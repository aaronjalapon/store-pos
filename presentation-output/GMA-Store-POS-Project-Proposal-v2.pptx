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d8f17b2b564e91" /><Relationship Type="http://schemas.openxmlformats.org/officeDocument/2006/relationships/extended-properties" Target="/docProps/app.xml" Id="Re5baa354bdf14ef5" /><Relationship Type="http://schemas.openxmlformats.org/officeDocument/2006/relationships/officeDocument" Target="/ppt/presentation.xml" Id="R71b97b5325de43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1e8be36078436a"/>
  </p:sldMasterIdLst>
  <p:notesMasterIdLst>
    <p:notesMasterId xmlns:r="http://schemas.openxmlformats.org/officeDocument/2006/relationships" r:id="R734f87e08bc84213"/>
  </p:notesMasterIdLst>
  <p:sldIdLst>
    <p:sldId xmlns:r="http://schemas.openxmlformats.org/officeDocument/2006/relationships" id="256" r:id="Rac09ef1871d144c6"/>
    <p:sldId xmlns:r="http://schemas.openxmlformats.org/officeDocument/2006/relationships" id="257" r:id="R81d838187c1e4b01"/>
    <p:sldId xmlns:r="http://schemas.openxmlformats.org/officeDocument/2006/relationships" id="258" r:id="R557470bf0ec945e7"/>
    <p:sldId xmlns:r="http://schemas.openxmlformats.org/officeDocument/2006/relationships" id="259" r:id="Ra4a85fa296854c5b"/>
    <p:sldId xmlns:r="http://schemas.openxmlformats.org/officeDocument/2006/relationships" id="260" r:id="R5c02dc146a914f8f"/>
    <p:sldId xmlns:r="http://schemas.openxmlformats.org/officeDocument/2006/relationships" id="261" r:id="R7821709dce854796"/>
    <p:sldId xmlns:r="http://schemas.openxmlformats.org/officeDocument/2006/relationships" id="262" r:id="R96232ff9a6f145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f820ea912d4512" /><Relationship Type="http://schemas.openxmlformats.org/officeDocument/2006/relationships/slideMaster" Target="/ppt/slideMasters/slideMaster1.xml" Id="R341e8be36078436a" /><Relationship Type="http://schemas.openxmlformats.org/officeDocument/2006/relationships/notesMaster" Target="/ppt/notesMasters/notesMaster1.xml" Id="R734f87e08bc84213" /><Relationship Type="http://schemas.openxmlformats.org/officeDocument/2006/relationships/presProps" Target="/ppt/presProps.xml" Id="Rdc4417417d164ebc" /><Relationship Type="http://schemas.openxmlformats.org/officeDocument/2006/relationships/tableStyles" Target="/ppt/tableStyles.xml" Id="Re2e8d422b2184dd9" /><Relationship Type="http://schemas.openxmlformats.org/officeDocument/2006/relationships/slide" Target="/ppt/slides/slide1.xml" Id="Rac09ef1871d144c6" /><Relationship Type="http://schemas.openxmlformats.org/officeDocument/2006/relationships/slide" Target="/ppt/slides/slide2.xml" Id="R81d838187c1e4b01" /><Relationship Type="http://schemas.openxmlformats.org/officeDocument/2006/relationships/slide" Target="/ppt/slides/slide3.xml" Id="R557470bf0ec945e7" /><Relationship Type="http://schemas.openxmlformats.org/officeDocument/2006/relationships/slide" Target="/ppt/slides/slide4.xml" Id="Ra4a85fa296854c5b" /><Relationship Type="http://schemas.openxmlformats.org/officeDocument/2006/relationships/slide" Target="/ppt/slides/slide5.xml" Id="R5c02dc146a914f8f" /><Relationship Type="http://schemas.openxmlformats.org/officeDocument/2006/relationships/slide" Target="/ppt/slides/slide6.xml" Id="R7821709dce854796" /><Relationship Type="http://schemas.openxmlformats.org/officeDocument/2006/relationships/slide" Target="/ppt/slides/slide7.xml" Id="R96232ff9a6f1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29d2c82cc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1cc2e93d24071" /><Relationship Type="http://schemas.openxmlformats.org/officeDocument/2006/relationships/notesMaster" Target="/ppt/notesMasters/notesMaster1.xml" Id="R78ca581bbe2247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cc2b566f64414" /><Relationship Type="http://schemas.openxmlformats.org/officeDocument/2006/relationships/notesMaster" Target="/ppt/notesMasters/notesMaster1.xml" Id="Rc344bb5bdb464a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1bd84b80db4839" /><Relationship Type="http://schemas.openxmlformats.org/officeDocument/2006/relationships/notesMaster" Target="/ppt/notesMasters/notesMaster1.xml" Id="R0a9a9aa4d8c943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35dfd4a07f4b03" /><Relationship Type="http://schemas.openxmlformats.org/officeDocument/2006/relationships/notesMaster" Target="/ppt/notesMasters/notesMaster1.xml" Id="R0b309e88891d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d038510bfa43a8" /><Relationship Type="http://schemas.openxmlformats.org/officeDocument/2006/relationships/notesMaster" Target="/ppt/notesMasters/notesMaster1.xml" Id="R22f118127fe840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88a34c3fab4456" /><Relationship Type="http://schemas.openxmlformats.org/officeDocument/2006/relationships/notesMaster" Target="/ppt/notesMasters/notesMaster1.xml" Id="R55b1fa54547c48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eb81e435ae4499" /><Relationship Type="http://schemas.openxmlformats.org/officeDocument/2006/relationships/notesMaster" Target="/ppt/notesMasters/notesMaster1.xml" Id="R6f7570c00fd1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illustration generated for this presentation. Project details are based on the GMA Store POS repository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offline model and feature scope come from README.md and docs/sale-sync-resilience.md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reflect the implemented checkout, inventory, utang, reporting, synchronization, and backup capabilities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definitions are based on the contracts and authentication flows in packages/contracts and apps/web/components/auth-shell.tsx. Illustration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statements are grounded in the current web components, contracts, API services, and tests in the GMA Store POS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workflow diagram. The device-first sale and later synchronization flow are described in README.md and docs/sale-sync-resilience.md.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choices are taken from package.json, apps/web/package.json, apps/api/package.json, docker-compose.yml,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ecf5d245347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e9616604e64dab" /><Relationship Type="http://schemas.openxmlformats.org/officeDocument/2006/relationships/slideLayout" Target="/ppt/slideLayouts/slideLayout1.xml" Id="R7d365d5b93d348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65d5b93d348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ecd8897594d62" /><Relationship Type="http://schemas.openxmlformats.org/officeDocument/2006/relationships/image" Target="/ppt/media/image.png" Id="Rb1f08085c1384b3f" /><Relationship Type="http://schemas.openxmlformats.org/officeDocument/2006/relationships/image" Target="/ppt/media/image2.png" Id="Ra38635b633e7490e" /><Relationship Type="http://schemas.openxmlformats.org/officeDocument/2006/relationships/notesSlide" Target="/ppt/notesSlides/notesSlide1.xml" Id="Rad98fe78951b4c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739b26e604d21" /><Relationship Type="http://schemas.openxmlformats.org/officeDocument/2006/relationships/notesSlide" Target="/ppt/notesSlides/notesSlide2.xml" Id="Rdfb88fe3b0794f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9b5f6a13b4fe9" /><Relationship Type="http://schemas.openxmlformats.org/officeDocument/2006/relationships/notesSlide" Target="/ppt/notesSlides/notesSlide3.xml" Id="Rf9c80beedf4546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1557382bb4b3f" /><Relationship Type="http://schemas.openxmlformats.org/officeDocument/2006/relationships/image" Target="/ppt/media/image3.png" Id="R9eab787788c248e6" /><Relationship Type="http://schemas.openxmlformats.org/officeDocument/2006/relationships/notesSlide" Target="/ppt/notesSlides/notesSlide4.xml" Id="Rbf98c45591814f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591eb85814b7f" /><Relationship Type="http://schemas.openxmlformats.org/officeDocument/2006/relationships/notesSlide" Target="/ppt/notesSlides/notesSlide5.xml" Id="R76efe4831e1b47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e8a3e144a42f9" /><Relationship Type="http://schemas.openxmlformats.org/officeDocument/2006/relationships/notesSlide" Target="/ppt/notesSlides/notesSlide6.xml" Id="R831728eba85048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92a227be94572" /><Relationship Type="http://schemas.openxmlformats.org/officeDocument/2006/relationships/notesSlide" Target="/ppt/notesSlides/notesSlide7.xml" Id="R3e4cd75e13a449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08085c1384b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29B81-8906-40DC-A4A7-FF53022D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286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635b633e7490e"/>
          <a:stretch xmlns:a="http://schemas.openxmlformats.org/drawingml/2006/main"/>
        </p:blipFill>
        <p:spPr>
          <a:xfrm xmlns:a="http://schemas.openxmlformats.org/drawingml/2006/main">
            <a:off x="723900" y="6096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3B7CC-37DF-4C53-A720-3721F78F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CCE106L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C2035-BF83-4CFC-9892-64216553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51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GMA Store POS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0AD48-0B8D-433C-B7D7-E9E96244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rPr>
              <a:t>An Offline-First Point-of-Sale System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rPr>
              <a:t>for Sari-Sari Stores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3BB50-3210-44F6-AECE-AAE8C280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7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7B478-497F-4893-9193-CF853271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Presenters: [Names]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Instructor: [Instructor Name]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Date: [Presentation Date]</a:t>
            </a:r>
          </a:p>
        </p:txBody>
      </p:sp>
    </p:spTree>
    <p:extLst>
      <p:ext uri="{BB962C8B-B14F-4D97-AF65-F5344CB8AC3E}">
        <p14:creationId xmlns:p14="http://schemas.microsoft.com/office/powerpoint/2010/main" val="1753277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F59E15CC-7F4D-4571-AF17-F24EBB9E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20FEAD7-55AC-4A26-891F-165F3FB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Project overview and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36A85-B0D9-4A56-9FC8-CCC3ACBB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3002E-80B9-4DD6-A222-503CEB74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CURRENT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5DF9D-9B76-4865-B46B-14107BE0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Small stores often rely on handwritten records and memory during busy selling hours.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E2EC5-DD8F-4ECA-A3C9-C94381E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85B34-57A0-4687-9869-883C2534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Manual sales and stock records take time and can contain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8CE9E-26EF-44C5-8C9D-7632ECB8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22F51-B414-44BF-BE8A-2183959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Internet-dependent systems can stop the checkout process when the connection fails.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746C5-BFBF-46AD-BF27-682EEE75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686300" cy="41910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CDFBA-07E9-4B32-ABB1-91692A0E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rPr>
              <a:t>PROPOSED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D3510-1995-4CFA-BEEE-8B15697C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0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A mobile-friendly POS that keeps the store operating offline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CF38A-CFA4-4A56-94CC-60F0D274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352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rPr>
              <a:t>Sales save on the device first. The system updates cloud data and backups when internet access returns.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AD4E3-5AA5-49E2-B933-C6019212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D6EA9-ABF5-4A59-9FA3-AE83B08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337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62E2060D-83F5-4E25-8A61-7E96EDA1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82BB40-64BA-4F04-B868-0BCEC1C5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54A57-DA3B-4B42-A275-770AF875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142F2-42BE-43F3-86D6-4C61F0BD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Four outcomes guide the proposed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AD89-8D83-4777-8911-8E8E5FE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E3A13-1B24-4BA7-B76B-98257911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Faster 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03AA6-BB3D-4672-AC4A-924F9544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Help staff search, scan, and complete sales with fewer manual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46F5B-49C7-4359-BA2B-D95FA07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6F938-3F1D-4F24-9B98-D6DC9D7C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B2816-8A0C-4A4F-AB43-682B6253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71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Reliable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78A3D-C1B8-40DE-A7E9-AC9BA9C1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Keep inventory and customer credit balances current after each transaction.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23ADE-1906-48C0-AE56-9150EF4B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1F9FF-7872-43D4-9362-78B02241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78E8B-C12C-4133-919E-2D039AA0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Clear daily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A3010-1F30-47B8-89FA-2B92C7C9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86275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Summarize sales, expenses, transactions, and best-selling products.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E2998-52B1-46A4-AE01-16BB2931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F0731-782A-438A-8702-3757BA0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F2C94C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F2C94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513F9-58BF-4922-8BE3-EEC1DF90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Protected store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D1697-F0B8-4F6C-8816-E9807D99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86275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Synchronize durable local records and maintain encrypted server backups.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F019E-0363-4354-8387-E1DA601A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435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3C8FB-C440-4B36-9D01-2528E7D6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77D5C-B466-4096-8FE8-E187BAE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6334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b787788c248e6"/>
          <a:srcRect xmlns:a="http://schemas.openxmlformats.org/drawingml/2006/main" l="14815" t="0" r="148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312E9-5E92-4524-9C23-E32EB545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41CCA-4EB6-4D05-BCCB-EDE59F8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76E25-52A0-462E-8392-731A950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Target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58D24-E9AD-448E-8D14-F5D85D95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B8086-5D09-4422-ABBE-68A5257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Owner or administrator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728FF-D0CE-4961-B6F0-6FF6316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Manages products, stock, expenses, reports, staff access, and backups.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6D41D-43FC-4027-B6F1-DFCDE2DC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06D58-9722-4F43-840F-7446AB8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Cashier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DCEE4-B1CE-4B18-AD7B-5424D593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Processes sales through a focused checkout view and records the payment method.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080AD-FDDD-42ED-9619-3DEEAA44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60B9C-6D21-497C-A91A-9CF5BA4E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System superadministrator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10880-8EBE-4ECA-9EDF-20D5CD8D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Creates stores and manages owner or administrator access across deployments.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6F484-AC4A-4E2F-8F5A-C01C7F4D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ROLE-BASED ACCESS</a:t>
            </a:r>
          </a:p>
        </p:txBody>
      </p:sp>
    </p:spTree>
    <p:extLst>
      <p:ext uri="{BB962C8B-B14F-4D97-AF65-F5344CB8AC3E}">
        <p14:creationId xmlns:p14="http://schemas.microsoft.com/office/powerpoint/2010/main" val="2085051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418332FF-8DC7-4A20-A861-61055AC4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3A6396D-8AC4-4373-9081-5B652F94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Main proposed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59B38-9605-4EB7-8BE8-74C8DB51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C25F3-7860-4D30-9A46-F786D6D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proposal covers the store’s daily sales cycle and the records around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2B252-86E4-47E3-BF95-22A9559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1236D-21B6-4941-B24A-C1ECFE4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Checkout and 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9B2FC-8BF2-4099-81F7-7606F55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Barcode-assisted selling with cash, GCash, Maya, and utang options.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92226-AC83-4AD8-939A-138FC8C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83860-4A60-460B-9C93-25522E18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C30FC-B604-42E3-839D-D7952AA7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Inventory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9F356-B8F3-4C0B-A669-4D686F6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Product units, restocking, stock adjustments, and low-stock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C3FCA-6E00-436B-BB68-2F85C01B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91D24-3166-40B2-BFBA-7600CAA9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C0A31-0CB8-445A-8B0F-6E1E8415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Customer utang 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2C938-1D9E-4953-A81A-224762D3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Customer balances, purchase entries, and payment recording.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D1D63-908A-4DC1-94AE-3F3E86DC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2DB5A-2593-4930-B769-C22E2834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4014D-91F2-48BB-9447-07B1F252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Reports and expenses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D8BDC-0912-40E8-A952-2454CDB2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Daily sales summary, expenses, transactions, and top products.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4769C-E6AB-45BF-9922-CCDBAC63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AB87E-D9CB-4C5A-9DB5-9E8E046B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8CE2A-C859-4D57-9C7B-3C35D334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Access and 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E8836C-25A3-4C75-830B-EB3CDE47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578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Staff roles, offline synchronization, product images, and encrypted backups.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1F050-991B-435D-B5FC-BD58510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00150"/>
            <a:ext cx="1028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DEA30-7298-4E90-8A3B-084273D2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4594F-A9E3-4A26-866A-11D6EC1D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069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DC058F39-56B4-4940-B1E3-0705BC32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C7ABB4F-5057-4F3E-854E-65435B01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Basic 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7C09D-92B7-439F-99A1-34A991AA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D5050-2215-4D50-8F0B-8C9B532D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Core selling steps remain available after the first online setup.</a:t>
            </a:r>
          </a:p>
        </p:txBody>
      </p:sp>
      <p:sp>
        <p:nvSpPr>
          <p:cNvPr id="5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AEBEEF6B-9A3F-4AD4-9A45-94E2E77D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6413F-C035-4872-843C-8F62FE91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283CE-0096-4D72-833C-0C7FBAC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Staff sign-in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68AA2-582A-4D87-BAD2-DAE72EB2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Role and store access</a:t>
            </a:r>
          </a:p>
        </p:txBody>
      </p:sp>
      <p:sp>
        <p:nvSpPr>
          <p:cNvPr id="9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C3D0D38C-0F1C-4C8B-A55B-618C3CE7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24E7F-E2D1-434E-9F99-26369190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FD08D-8130-4562-89E5-5F33CC0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Find products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A8AD2-AB82-4479-882C-7008498B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Search or scan barcode</a:t>
            </a:r>
          </a:p>
        </p:txBody>
      </p:sp>
      <p:sp>
        <p:nvSpPr>
          <p:cNvPr id="13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9FB4B9BF-6E6C-4E12-B486-F9DD70BE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8CAF3-A871-4CEB-88F8-2F6943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42989-3DAB-488A-BE4E-FEFF4F8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Build the cart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D7C92-E9CB-48B6-B3F1-4F26F5F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Set quantity or amount</a:t>
            </a:r>
          </a:p>
        </p:txBody>
      </p:sp>
      <p:sp>
        <p:nvSpPr>
          <p:cNvPr id="17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358FC506-112B-4102-BF68-285E9AF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95C99-0295-4152-892F-E4F69F46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ACA18-259A-4833-B32B-21E6820F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Select payment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D41F7-113D-4A9B-9EE5-95C6F064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Cash, e-wallet, or utang</a:t>
            </a:r>
          </a:p>
        </p:txBody>
      </p:sp>
      <p:sp>
        <p:nvSpPr>
          <p:cNvPr id="21" name="workflow-step-5">
            <a:extLst xmlns:a="http://schemas.openxmlformats.org/drawingml/2006/main">
              <a:ext uri="{FF2B5EF4-FFF2-40B4-BE49-F238E27FC236}">
                <a16:creationId xmlns:a16="http://schemas.microsoft.com/office/drawing/2014/main" id="{1A788164-C547-40C9-B194-393D4165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9525">
            <a:solidFill>
              <a:srgbClr val="0B49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76336-3059-4F1D-A643-01F31FC6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F2C94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2C94C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93666-D312-457A-A6FD-7C1250BF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Save the sale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9271F-4CE1-48E5-8EFC-513AD6FC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rPr>
              <a:t>Stored on the device first</a:t>
            </a:r>
          </a:p>
        </p:txBody>
      </p:sp>
      <p:sp>
        <p:nvSpPr>
          <p:cNvPr id="25" name="workflow-step-6">
            <a:extLst xmlns:a="http://schemas.openxmlformats.org/drawingml/2006/main">
              <a:ext uri="{FF2B5EF4-FFF2-40B4-BE49-F238E27FC236}">
                <a16:creationId xmlns:a16="http://schemas.microsoft.com/office/drawing/2014/main" id="{9DC4D758-65C8-490E-A9D9-E877743D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D2A01-AD72-48F7-903F-EACDB2B0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0D1242-2EF5-4082-BE40-ECB51005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Update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FA8A7-4D65-48C6-A9E1-DCACA8E5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Stock, ledger, and reports</a:t>
            </a:r>
          </a:p>
        </p:txBody>
      </p:sp>
      <p:sp>
        <p:nvSpPr>
          <p:cNvPr id="29" name="workflow-step-7">
            <a:extLst xmlns:a="http://schemas.openxmlformats.org/drawingml/2006/main">
              <a:ext uri="{FF2B5EF4-FFF2-40B4-BE49-F238E27FC236}">
                <a16:creationId xmlns:a16="http://schemas.microsoft.com/office/drawing/2014/main" id="{3BF5F5A8-E681-45AB-9953-1DA9217D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6F807D-B7A8-40CD-8256-0007F3AF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0E7C02-9847-4F48-9C05-7C63DCEA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Sync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4E4879-39E8-442D-8794-1D886A79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Back up when online</a:t>
            </a:r>
          </a:p>
        </p:txBody>
      </p:sp>
      <p:cxnSp>
        <p:nvCxnSpPr>
          <p:cNvPr id="7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9085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769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6295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925050" y="321945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2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8362950" y="5038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5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5676900" y="5038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683DE6-8AC5-4080-927D-8B3CA100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OFFLINE CORE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F11224-FC6F-41E8-9D71-ABB3AB6D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30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A09469-EDC3-4040-93F3-C31ED5EF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ONLINE WHEN AVAILABLE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7C1E71-04C4-454D-AC52-B3583EE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AEFE08-8B89-465B-96F2-8204D122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0805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B45B14A8-47A9-483B-8EA5-1EDB083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7CE2639-18B3-4F7C-94AA-4515FF1F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Technologies and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8F466-560A-4528-84E0-13CD64A4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B7019-3A3F-4F21-83D6-3049A704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A web stack supports mobile use, offline operation, and centralized store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DB60D-3262-4BE4-9DB0-A514193E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77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239AD-EB19-43FA-8C6D-15441285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D6374-3A42-4002-832F-CEC21593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240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Next.js  ·  React  ·  TypeScript  ·  Progressive Web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D3E2E-50EA-4C97-BB45-367B8E2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97917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FB889-CA01-46EF-A88B-CCDD5364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DEVICE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E6863-3514-4E9B-A25A-1D3687C4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765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Dexie  ·  IndexedDB  ·  Offline command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6CCCA-764E-4F7C-89B0-29F22425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91059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00BC9-0C9C-48F8-9169-4060AF34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APPLICATION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AB5E9-4A6B-4693-AD82-1DAC7331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290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NestJS  ·  Fastify  ·  Role-based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FFF0F-9B55-4987-B504-69CF372D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84201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B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AD79C-3C2B-457E-A910-A97C240C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DATA AND BACKUPS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D868A-3FC8-4C72-A23B-DDFEB786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815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PostgreSQL  ·  S3-compatible MinIO  ·  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A6DE0-323E-49AD-B91E-B9D0BDE5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0B4937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B4937"/>
                </a:solidFill>
                <a:latin typeface="Georgia"/>
                <a:ea typeface="Georgia"/>
                <a:cs typeface="Georgia"/>
              </a:rPr>
              <a:t>Local-first 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8E433-39F7-43C3-8149-13D7A28A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1502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browser handles daily work. The server supports shared access, synchronization, and recovery.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D1F58-F17D-4414-8754-D28D463D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41948-8C7A-41C5-9529-590BA72A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9152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2026-09-14T07:43:00.9650000Z</dcterms:created>
  <dcterms:modified xsi:type="dcterms:W3CDTF">2026-09-14T07:43:00.9650000Z</dcterms:modified>
</coreProperties>
</file>