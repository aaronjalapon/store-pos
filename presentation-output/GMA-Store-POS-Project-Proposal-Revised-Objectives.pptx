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0"/>
  </p:normalViewPr>
  <p:slideViewPr>
    <p:cSldViewPr snapToGrid="0">
      <p:cViewPr varScale="1">
        <p:scale>
          <a:sx n="118" d="100"/>
          <a:sy n="118" d="100"/>
        </p:scale>
        <p:origin x="2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 illustration generated for this presentation. Project details are based on the GMA Store POS repository and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offline model and feature scope come from README.md and docs/sale-sync-resilience.md in the project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objectives describe what the team aims to achieve while developing the GMA Store POS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Role definitions are based on the contracts and authentication flows in packages/contracts and apps/web/components/auth-shell.tsx. Illustration generated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Feature statements are grounded in the current web components, contracts, API services, and tests in the GMA Store POS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Editable workflow diagram. The device-first sale and later synchronization flow are described in README.md and docs/sale-sync-resilience.md.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Technology choices are taken from package.json, apps/web/package.json, apps/api/package.json, docker-compose.yml, and 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0885B9D-21E2-4EEE-8E33-AF9D96927610}"/>
              </a:ext>
            </a:extLst>
          </p:cNvPr>
          <p:cNvSpPr>
            <a:spLocks noGrp="1"/>
          </p:cNvSpPr>
          <p:nvPr/>
        </p:nvSpPr>
        <p:spPr>
          <a:xfrm>
            <a:off x="647700" y="533400"/>
            <a:ext cx="628650" cy="628650"/>
          </a:xfrm>
          <a:prstGeom prst="roundRect">
            <a:avLst>
              <a:gd name="adj" fmla="val 27273"/>
            </a:avLst>
          </a:prstGeom>
          <a:solidFill>
            <a:srgbClr val="FFFD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3900" y="609600"/>
            <a:ext cx="476250" cy="4762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793B721-3E10-4D08-B5F5-F50682B18E70}"/>
              </a:ext>
            </a:extLst>
          </p:cNvPr>
          <p:cNvSpPr>
            <a:spLocks noGrp="1"/>
          </p:cNvSpPr>
          <p:nvPr/>
        </p:nvSpPr>
        <p:spPr>
          <a:xfrm>
            <a:off x="647700" y="152400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CCE106L PROJECT PROPOSAL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6D3F9D-B632-4B44-BCFA-3326AF97263C}"/>
              </a:ext>
            </a:extLst>
          </p:cNvPr>
          <p:cNvSpPr>
            <a:spLocks noGrp="1"/>
          </p:cNvSpPr>
          <p:nvPr/>
        </p:nvSpPr>
        <p:spPr>
          <a:xfrm>
            <a:off x="647700" y="1876425"/>
            <a:ext cx="5334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51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51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GMA Store POS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34CCDF-40CD-4DE1-9203-EFCB931234DB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4953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875" b="0" i="0">
                <a:solidFill>
                  <a:srgbClr val="0B4937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0B4937"/>
                </a:solidFill>
                <a:latin typeface="Avenir Next"/>
                <a:ea typeface="Avenir Next"/>
                <a:cs typeface="Avenir Next"/>
              </a:rPr>
              <a:t>An Offline-First Point-of-Sale System</a:t>
            </a:r>
          </a:p>
          <a:p>
            <a:pPr algn="l">
              <a:lnSpc>
                <a:spcPct val="116000"/>
              </a:lnSpc>
              <a:buNone/>
              <a:defRPr sz="1875" b="0" i="0">
                <a:solidFill>
                  <a:srgbClr val="0B4937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0B4937"/>
                </a:solidFill>
                <a:latin typeface="Avenir Next"/>
                <a:ea typeface="Avenir Next"/>
                <a:cs typeface="Avenir Next"/>
              </a:rPr>
              <a:t>for Sari-Sari Stores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64C0C8-02CB-417D-B0B4-23D8CA8ED69A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571500" cy="66675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A9D0D3-9FC7-4CD6-B9A6-F13ABDEF8702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4000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endParaRPr lang="en-PH" sz="1275" b="0" i="0" dirty="0">
              <a:solidFill>
                <a:srgbClr val="66736D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1995377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2-number">
            <a:extLst>
              <a:ext uri="{FF2B5EF4-FFF2-40B4-BE49-F238E27FC236}">
                <a16:creationId xmlns:a16="http://schemas.microsoft.com/office/drawing/2014/main" id="{468BE3E6-742B-4BBE-9BD1-A1AE822CDCD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" name="slide-2-title">
            <a:extLst>
              <a:ext uri="{FF2B5EF4-FFF2-40B4-BE49-F238E27FC236}">
                <a16:creationId xmlns:a16="http://schemas.microsoft.com/office/drawing/2014/main" id="{462E63EB-A32D-47BF-B2A3-47F27397C565}"/>
              </a:ext>
            </a:extLst>
          </p:cNvPr>
          <p:cNvSpPr>
            <a:spLocks noGrp="1"/>
          </p:cNvSpPr>
          <p:nvPr/>
        </p:nvSpPr>
        <p:spPr>
          <a:xfrm>
            <a:off x="1314450" y="323850"/>
            <a:ext cx="9906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Project overview and problem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976A7A-8041-4A50-806C-8E7EA5ADF9AB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820400" cy="19050"/>
          </a:xfrm>
          <a:prstGeom prst="rect">
            <a:avLst/>
          </a:prstGeom>
          <a:solidFill>
            <a:srgbClr val="116149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0F5861-F141-4C32-AF44-991939A0BB2F}"/>
              </a:ext>
            </a:extLst>
          </p:cNvPr>
          <p:cNvSpPr>
            <a:spLocks noGrp="1"/>
          </p:cNvSpPr>
          <p:nvPr/>
        </p:nvSpPr>
        <p:spPr>
          <a:xfrm>
            <a:off x="742950" y="1381125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CURRENT CHALLENGE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6927C2-AE4E-4658-A044-57C51EA4B610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4953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625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2625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Small stores often rely on handwritten records and memory during busy selling hours.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549E5F-F746-4882-8725-739BADB2AE7F}"/>
              </a:ext>
            </a:extLst>
          </p:cNvPr>
          <p:cNvSpPr>
            <a:spLocks noGrp="1"/>
          </p:cNvSpPr>
          <p:nvPr/>
        </p:nvSpPr>
        <p:spPr>
          <a:xfrm>
            <a:off x="742950" y="3200400"/>
            <a:ext cx="571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D629F3-BD84-42BF-ACDD-55E997ED1790}"/>
              </a:ext>
            </a:extLst>
          </p:cNvPr>
          <p:cNvSpPr>
            <a:spLocks noGrp="1"/>
          </p:cNvSpPr>
          <p:nvPr/>
        </p:nvSpPr>
        <p:spPr>
          <a:xfrm>
            <a:off x="1447800" y="3143250"/>
            <a:ext cx="4095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Manual sales and stock records take time and can contain errors.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F1CF7D-00EF-4188-BB00-6F61B430A5DB}"/>
              </a:ext>
            </a:extLst>
          </p:cNvPr>
          <p:cNvSpPr>
            <a:spLocks noGrp="1"/>
          </p:cNvSpPr>
          <p:nvPr/>
        </p:nvSpPr>
        <p:spPr>
          <a:xfrm>
            <a:off x="742950" y="4114800"/>
            <a:ext cx="571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8A2C38-3F5D-4571-96B3-D404C753D95E}"/>
              </a:ext>
            </a:extLst>
          </p:cNvPr>
          <p:cNvSpPr>
            <a:spLocks noGrp="1"/>
          </p:cNvSpPr>
          <p:nvPr/>
        </p:nvSpPr>
        <p:spPr>
          <a:xfrm>
            <a:off x="1447800" y="4057650"/>
            <a:ext cx="40957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Internet-dependent systems can stop the checkout process when the connection fails.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AD83F71-F6DB-4C62-BB27-63D6375BB017}"/>
              </a:ext>
            </a:extLst>
          </p:cNvPr>
          <p:cNvSpPr>
            <a:spLocks noGrp="1"/>
          </p:cNvSpPr>
          <p:nvPr/>
        </p:nvSpPr>
        <p:spPr>
          <a:xfrm>
            <a:off x="6286500" y="1428750"/>
            <a:ext cx="4686300" cy="4191000"/>
          </a:xfrm>
          <a:prstGeom prst="roundRect">
            <a:avLst>
              <a:gd name="adj" fmla="val 6364"/>
            </a:avLst>
          </a:prstGeom>
          <a:solidFill>
            <a:srgbClr val="0B4937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282E79-B56D-4199-8641-E3C70687FC41}"/>
              </a:ext>
            </a:extLst>
          </p:cNvPr>
          <p:cNvSpPr>
            <a:spLocks noGrp="1"/>
          </p:cNvSpPr>
          <p:nvPr/>
        </p:nvSpPr>
        <p:spPr>
          <a:xfrm>
            <a:off x="6762750" y="1924050"/>
            <a:ext cx="3238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F2C94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2C94C"/>
                </a:solidFill>
                <a:latin typeface="Avenir Next"/>
                <a:ea typeface="Avenir Next"/>
                <a:cs typeface="Avenir Next"/>
              </a:rPr>
              <a:t>PROPOSED SOLUTION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52A280-E92F-4F00-A3C0-8C7D013E3C4F}"/>
              </a:ext>
            </a:extLst>
          </p:cNvPr>
          <p:cNvSpPr>
            <a:spLocks noGrp="1"/>
          </p:cNvSpPr>
          <p:nvPr/>
        </p:nvSpPr>
        <p:spPr>
          <a:xfrm>
            <a:off x="6762750" y="2324100"/>
            <a:ext cx="36195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2925" b="0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2925" b="0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A mobile-friendly POS that keeps the store operating offline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1755D5-CF09-4938-920B-58C664FB112B}"/>
              </a:ext>
            </a:extLst>
          </p:cNvPr>
          <p:cNvSpPr>
            <a:spLocks noGrp="1"/>
          </p:cNvSpPr>
          <p:nvPr/>
        </p:nvSpPr>
        <p:spPr>
          <a:xfrm>
            <a:off x="6762750" y="4095750"/>
            <a:ext cx="35242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500" b="0" i="0">
                <a:solidFill>
                  <a:srgbClr val="DCEBE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DCEBE2"/>
                </a:solidFill>
                <a:latin typeface="Avenir Next"/>
                <a:ea typeface="Avenir Next"/>
                <a:cs typeface="Avenir Next"/>
              </a:rPr>
              <a:t>Sales save on the device first. The system updates cloud data and backups when internet access returns.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537E0E-6260-4529-ABF9-78DBC2D5A4E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986F37-D040-413E-91CA-81563A461715}"/>
              </a:ext>
            </a:extLst>
          </p:cNvPr>
          <p:cNvSpPr>
            <a:spLocks noGrp="1"/>
          </p:cNvSpPr>
          <p:nvPr/>
        </p:nvSpPr>
        <p:spPr>
          <a:xfrm>
            <a:off x="11010900" y="6457950"/>
            <a:ext cx="495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6597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3-number">
            <a:extLst>
              <a:ext uri="{FF2B5EF4-FFF2-40B4-BE49-F238E27FC236}">
                <a16:creationId xmlns:a16="http://schemas.microsoft.com/office/drawing/2014/main" id="{A84FF9F9-EF96-4AEC-8B26-A0CFC1FD1956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" name="slide-3-title">
            <a:extLst>
              <a:ext uri="{FF2B5EF4-FFF2-40B4-BE49-F238E27FC236}">
                <a16:creationId xmlns:a16="http://schemas.microsoft.com/office/drawing/2014/main" id="{A2FFD99A-89AA-43CB-B648-3D5E419EBE2A}"/>
              </a:ext>
            </a:extLst>
          </p:cNvPr>
          <p:cNvSpPr>
            <a:spLocks noGrp="1"/>
          </p:cNvSpPr>
          <p:nvPr/>
        </p:nvSpPr>
        <p:spPr>
          <a:xfrm>
            <a:off x="1314450" y="323850"/>
            <a:ext cx="9906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Project 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31CE4B-2BA5-4E89-804F-2CA4673944FB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820400" cy="19050"/>
          </a:xfrm>
          <a:prstGeom prst="rect">
            <a:avLst/>
          </a:prstGeom>
          <a:solidFill>
            <a:srgbClr val="116149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FE2B50-3903-48CE-9C14-A0547AE95C2F}"/>
              </a:ext>
            </a:extLst>
          </p:cNvPr>
          <p:cNvSpPr>
            <a:spLocks noGrp="1"/>
          </p:cNvSpPr>
          <p:nvPr/>
        </p:nvSpPr>
        <p:spPr>
          <a:xfrm>
            <a:off x="742950" y="1257300"/>
            <a:ext cx="5905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The project focuses on four development goals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5DEC5C-40DB-4314-A356-A9CF1C04E4E8}"/>
              </a:ext>
            </a:extLst>
          </p:cNvPr>
          <p:cNvSpPr>
            <a:spLocks noGrp="1"/>
          </p:cNvSpPr>
          <p:nvPr/>
        </p:nvSpPr>
        <p:spPr>
          <a:xfrm>
            <a:off x="742950" y="1952625"/>
            <a:ext cx="685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079B86-11C8-4DFF-B341-03FEE800D92F}"/>
              </a:ext>
            </a:extLst>
          </p:cNvPr>
          <p:cNvSpPr>
            <a:spLocks noGrp="1"/>
          </p:cNvSpPr>
          <p:nvPr/>
        </p:nvSpPr>
        <p:spPr>
          <a:xfrm>
            <a:off x="1619250" y="1971675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Develop an accessible POS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9AA97A-9020-4C1D-9C4F-9EA2B868C51F}"/>
              </a:ext>
            </a:extLst>
          </p:cNvPr>
          <p:cNvSpPr>
            <a:spLocks noGrp="1"/>
          </p:cNvSpPr>
          <p:nvPr/>
        </p:nvSpPr>
        <p:spPr>
          <a:xfrm>
            <a:off x="1619250" y="2457450"/>
            <a:ext cx="3762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Create a mobile-friendly system suited to the daily operations of sari-sari stores.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D1CB65-4FBA-40A0-AFB4-D665CDD42A5C}"/>
              </a:ext>
            </a:extLst>
          </p:cNvPr>
          <p:cNvSpPr>
            <a:spLocks noGrp="1"/>
          </p:cNvSpPr>
          <p:nvPr/>
        </p:nvSpPr>
        <p:spPr>
          <a:xfrm>
            <a:off x="742950" y="3514725"/>
            <a:ext cx="4572000" cy="19050"/>
          </a:xfrm>
          <a:prstGeom prst="rect">
            <a:avLst/>
          </a:prstGeom>
          <a:solidFill>
            <a:srgbClr val="DCEBE2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86082A-715D-4B35-87A2-C28E91CC6EA2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685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62833C-3341-4B1E-9CC1-49D8AB97988D}"/>
              </a:ext>
            </a:extLst>
          </p:cNvPr>
          <p:cNvSpPr>
            <a:spLocks noGrp="1"/>
          </p:cNvSpPr>
          <p:nvPr/>
        </p:nvSpPr>
        <p:spPr>
          <a:xfrm>
            <a:off x="7067550" y="1971675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Implement offline operation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E55B9D-F767-46C3-9909-B8B9F64D25D1}"/>
              </a:ext>
            </a:extLst>
          </p:cNvPr>
          <p:cNvSpPr>
            <a:spLocks noGrp="1"/>
          </p:cNvSpPr>
          <p:nvPr/>
        </p:nvSpPr>
        <p:spPr>
          <a:xfrm>
            <a:off x="7067550" y="2457450"/>
            <a:ext cx="3762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Allow staff to complete and save sales without a continuous internet connection.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2FCBF0-118F-432D-92B4-06DB29E139DB}"/>
              </a:ext>
            </a:extLst>
          </p:cNvPr>
          <p:cNvSpPr>
            <a:spLocks noGrp="1"/>
          </p:cNvSpPr>
          <p:nvPr/>
        </p:nvSpPr>
        <p:spPr>
          <a:xfrm>
            <a:off x="6191250" y="3514725"/>
            <a:ext cx="4572000" cy="19050"/>
          </a:xfrm>
          <a:prstGeom prst="rect">
            <a:avLst/>
          </a:prstGeom>
          <a:solidFill>
            <a:srgbClr val="DCEBE2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3A619A-79F1-441C-96DA-91DBB9351CC5}"/>
              </a:ext>
            </a:extLst>
          </p:cNvPr>
          <p:cNvSpPr>
            <a:spLocks noGrp="1"/>
          </p:cNvSpPr>
          <p:nvPr/>
        </p:nvSpPr>
        <p:spPr>
          <a:xfrm>
            <a:off x="742950" y="3981450"/>
            <a:ext cx="685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26F56F-6434-4BA4-90D3-F27FBC3D0153}"/>
              </a:ext>
            </a:extLst>
          </p:cNvPr>
          <p:cNvSpPr>
            <a:spLocks noGrp="1"/>
          </p:cNvSpPr>
          <p:nvPr/>
        </p:nvSpPr>
        <p:spPr>
          <a:xfrm>
            <a:off x="1619250" y="4000500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Integrate store management tools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8A2129-5E52-4C48-AE3A-3878D427AA86}"/>
              </a:ext>
            </a:extLst>
          </p:cNvPr>
          <p:cNvSpPr>
            <a:spLocks noGrp="1"/>
          </p:cNvSpPr>
          <p:nvPr/>
        </p:nvSpPr>
        <p:spPr>
          <a:xfrm>
            <a:off x="1619250" y="4486275"/>
            <a:ext cx="3762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Combine checkout, inventory, utang, expenses, and daily reporting in one system.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277E43-B732-442B-B9F0-E86B69459731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4572000" cy="19050"/>
          </a:xfrm>
          <a:prstGeom prst="rect">
            <a:avLst/>
          </a:prstGeom>
          <a:solidFill>
            <a:srgbClr val="DCEBE2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0716A7-F5E7-4D13-9385-4BB56DD09F79}"/>
              </a:ext>
            </a:extLst>
          </p:cNvPr>
          <p:cNvSpPr>
            <a:spLocks noGrp="1"/>
          </p:cNvSpPr>
          <p:nvPr/>
        </p:nvSpPr>
        <p:spPr>
          <a:xfrm>
            <a:off x="6191250" y="3981450"/>
            <a:ext cx="685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0" i="0">
                <a:solidFill>
                  <a:srgbClr val="F2C94C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F2C94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C966CE-73A0-4048-9F25-109670C02114}"/>
              </a:ext>
            </a:extLst>
          </p:cNvPr>
          <p:cNvSpPr>
            <a:spLocks noGrp="1"/>
          </p:cNvSpPr>
          <p:nvPr/>
        </p:nvSpPr>
        <p:spPr>
          <a:xfrm>
            <a:off x="7067550" y="4000500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Support secure and reliable data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A1CB13-7528-4646-BF62-5FB341AEDBBE}"/>
              </a:ext>
            </a:extLst>
          </p:cNvPr>
          <p:cNvSpPr>
            <a:spLocks noGrp="1"/>
          </p:cNvSpPr>
          <p:nvPr/>
        </p:nvSpPr>
        <p:spPr>
          <a:xfrm>
            <a:off x="7067550" y="4486275"/>
            <a:ext cx="3762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Implement role-based access, synchronization, and encrypted backups.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F73A34-47C8-41BC-94D9-BF04D978C288}"/>
              </a:ext>
            </a:extLst>
          </p:cNvPr>
          <p:cNvSpPr>
            <a:spLocks noGrp="1"/>
          </p:cNvSpPr>
          <p:nvPr/>
        </p:nvSpPr>
        <p:spPr>
          <a:xfrm>
            <a:off x="6191250" y="5543550"/>
            <a:ext cx="4572000" cy="19050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0D1DCD-7994-4197-A820-946C11F64B25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EBE298-3822-48C9-A36F-0DE4959A8329}"/>
              </a:ext>
            </a:extLst>
          </p:cNvPr>
          <p:cNvSpPr>
            <a:spLocks noGrp="1"/>
          </p:cNvSpPr>
          <p:nvPr/>
        </p:nvSpPr>
        <p:spPr>
          <a:xfrm>
            <a:off x="11010900" y="6457950"/>
            <a:ext cx="495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432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l="14815" r="14815"/>
          <a:stretch>
            <a:fillRect/>
          </a:stretch>
        </p:blipFill>
        <p:spPr>
          <a:xfrm>
            <a:off x="4953000" y="0"/>
            <a:ext cx="7239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3560ECC-5577-48FB-8BF3-EC0C16ADCE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429250" cy="6858000"/>
          </a:xfrm>
          <a:prstGeom prst="rect">
            <a:avLst/>
          </a:prstGeom>
          <a:solidFill>
            <a:srgbClr val="F7F5EF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4786EA-3ADA-4F65-B9B8-2B1564C1BCC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BCFF73-19FF-4D1B-A9E0-A5FE456D1A9B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4095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6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Target users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A416F2-C563-42B9-A9AC-3700E6D5012C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95250" cy="666750"/>
          </a:xfrm>
          <a:prstGeom prst="rect">
            <a:avLst/>
          </a:prstGeom>
          <a:solidFill>
            <a:srgbClr val="116149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109794-4BA8-47B0-B291-D336541EABE2}"/>
              </a:ext>
            </a:extLst>
          </p:cNvPr>
          <p:cNvSpPr>
            <a:spLocks noGrp="1"/>
          </p:cNvSpPr>
          <p:nvPr/>
        </p:nvSpPr>
        <p:spPr>
          <a:xfrm>
            <a:off x="1028700" y="2000250"/>
            <a:ext cx="3524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Owner or administrator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B796E6-1B03-4DC5-95C1-276B2841174E}"/>
              </a:ext>
            </a:extLst>
          </p:cNvPr>
          <p:cNvSpPr>
            <a:spLocks noGrp="1"/>
          </p:cNvSpPr>
          <p:nvPr/>
        </p:nvSpPr>
        <p:spPr>
          <a:xfrm>
            <a:off x="1028700" y="2381250"/>
            <a:ext cx="36004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Manages products, stock, expenses, reports, staff access, and backups.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839FF1-7172-406C-A2F9-6655316AB51E}"/>
              </a:ext>
            </a:extLst>
          </p:cNvPr>
          <p:cNvSpPr>
            <a:spLocks noGrp="1"/>
          </p:cNvSpPr>
          <p:nvPr/>
        </p:nvSpPr>
        <p:spPr>
          <a:xfrm>
            <a:off x="704850" y="3295650"/>
            <a:ext cx="95250" cy="666750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89964E-F727-4718-A0A7-CBD16ED8D896}"/>
              </a:ext>
            </a:extLst>
          </p:cNvPr>
          <p:cNvSpPr>
            <a:spLocks noGrp="1"/>
          </p:cNvSpPr>
          <p:nvPr/>
        </p:nvSpPr>
        <p:spPr>
          <a:xfrm>
            <a:off x="1028700" y="3257550"/>
            <a:ext cx="3524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Cashier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945770-0289-4204-8C02-38170477927A}"/>
              </a:ext>
            </a:extLst>
          </p:cNvPr>
          <p:cNvSpPr>
            <a:spLocks noGrp="1"/>
          </p:cNvSpPr>
          <p:nvPr/>
        </p:nvSpPr>
        <p:spPr>
          <a:xfrm>
            <a:off x="1028700" y="3638550"/>
            <a:ext cx="36004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Processes sales through a focused checkout view and records the payment method.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ECCF7D-40DF-4270-A704-621457ED0222}"/>
              </a:ext>
            </a:extLst>
          </p:cNvPr>
          <p:cNvSpPr>
            <a:spLocks noGrp="1"/>
          </p:cNvSpPr>
          <p:nvPr/>
        </p:nvSpPr>
        <p:spPr>
          <a:xfrm>
            <a:off x="704850" y="4552950"/>
            <a:ext cx="95250" cy="666750"/>
          </a:xfrm>
          <a:prstGeom prst="rect">
            <a:avLst/>
          </a:prstGeom>
          <a:solidFill>
            <a:srgbClr val="116149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BCFA7A-F2AA-4F2D-B5A9-4A397A790EA1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3524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System superadministrator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8F54E4-5AB4-490D-B55E-D648131B5635}"/>
              </a:ext>
            </a:extLst>
          </p:cNvPr>
          <p:cNvSpPr>
            <a:spLocks noGrp="1"/>
          </p:cNvSpPr>
          <p:nvPr/>
        </p:nvSpPr>
        <p:spPr>
          <a:xfrm>
            <a:off x="1028700" y="4895850"/>
            <a:ext cx="36004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Creates stores and manages owner or administrator access across deployments.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30680B-ABEF-4C40-A677-170A49005F68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2571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ROLE-BASED ACCESS</a:t>
            </a:r>
          </a:p>
        </p:txBody>
      </p:sp>
    </p:spTree>
    <p:extLst>
      <p:ext uri="{BB962C8B-B14F-4D97-AF65-F5344CB8AC3E}">
        <p14:creationId xmlns:p14="http://schemas.microsoft.com/office/powerpoint/2010/main" val="1521461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5-number">
            <a:extLst>
              <a:ext uri="{FF2B5EF4-FFF2-40B4-BE49-F238E27FC236}">
                <a16:creationId xmlns:a16="http://schemas.microsoft.com/office/drawing/2014/main" id="{5B45BE0A-2991-46F5-9F61-522F158A5931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" name="slide-5-title">
            <a:extLst>
              <a:ext uri="{FF2B5EF4-FFF2-40B4-BE49-F238E27FC236}">
                <a16:creationId xmlns:a16="http://schemas.microsoft.com/office/drawing/2014/main" id="{C3E5278B-59B0-46D6-A9D7-2AA162D6D920}"/>
              </a:ext>
            </a:extLst>
          </p:cNvPr>
          <p:cNvSpPr>
            <a:spLocks noGrp="1"/>
          </p:cNvSpPr>
          <p:nvPr/>
        </p:nvSpPr>
        <p:spPr>
          <a:xfrm>
            <a:off x="1314450" y="323850"/>
            <a:ext cx="9906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Main proposed features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29D5E-2E5E-4458-9C40-773E09CCF05A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820400" cy="19050"/>
          </a:xfrm>
          <a:prstGeom prst="rect">
            <a:avLst/>
          </a:prstGeom>
          <a:solidFill>
            <a:srgbClr val="116149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624F2E-2F54-4AE3-9A9D-1E22681A758B}"/>
              </a:ext>
            </a:extLst>
          </p:cNvPr>
          <p:cNvSpPr>
            <a:spLocks noGrp="1"/>
          </p:cNvSpPr>
          <p:nvPr/>
        </p:nvSpPr>
        <p:spPr>
          <a:xfrm>
            <a:off x="742950" y="1257300"/>
            <a:ext cx="723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The proposal covers the store’s daily sales cycle and the records around it.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1B99CD-2E74-49A8-918F-E580CE466F2A}"/>
              </a:ext>
            </a:extLst>
          </p:cNvPr>
          <p:cNvSpPr>
            <a:spLocks noGrp="1"/>
          </p:cNvSpPr>
          <p:nvPr/>
        </p:nvSpPr>
        <p:spPr>
          <a:xfrm>
            <a:off x="781050" y="19240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798B34-609A-432C-8276-0322E3057A38}"/>
              </a:ext>
            </a:extLst>
          </p:cNvPr>
          <p:cNvSpPr>
            <a:spLocks noGrp="1"/>
          </p:cNvSpPr>
          <p:nvPr/>
        </p:nvSpPr>
        <p:spPr>
          <a:xfrm>
            <a:off x="1428750" y="1905000"/>
            <a:ext cx="314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Checkout and payments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EFB9F0-C0A9-41C0-B5C0-0161D347E2A9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6191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Barcode-assisted selling with cash, GCash, Maya, and utang options.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1E3A6C-C022-4D2B-8830-6F05E732A453}"/>
              </a:ext>
            </a:extLst>
          </p:cNvPr>
          <p:cNvSpPr>
            <a:spLocks noGrp="1"/>
          </p:cNvSpPr>
          <p:nvPr/>
        </p:nvSpPr>
        <p:spPr>
          <a:xfrm>
            <a:off x="781050" y="2543175"/>
            <a:ext cx="10172700" cy="9525"/>
          </a:xfrm>
          <a:prstGeom prst="rect">
            <a:avLst/>
          </a:prstGeom>
          <a:solidFill>
            <a:srgbClr val="DEDED4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F8E11D-72CA-44CF-8C0E-7E947208CB84}"/>
              </a:ext>
            </a:extLst>
          </p:cNvPr>
          <p:cNvSpPr>
            <a:spLocks noGrp="1"/>
          </p:cNvSpPr>
          <p:nvPr/>
        </p:nvSpPr>
        <p:spPr>
          <a:xfrm>
            <a:off x="781050" y="27622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71E967-02DD-401E-8157-EFE747FD9406}"/>
              </a:ext>
            </a:extLst>
          </p:cNvPr>
          <p:cNvSpPr>
            <a:spLocks noGrp="1"/>
          </p:cNvSpPr>
          <p:nvPr/>
        </p:nvSpPr>
        <p:spPr>
          <a:xfrm>
            <a:off x="1428750" y="2743200"/>
            <a:ext cx="314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Inventory control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EC601C-6E54-4B0E-A964-9663CE75CF96}"/>
              </a:ext>
            </a:extLst>
          </p:cNvPr>
          <p:cNvSpPr>
            <a:spLocks noGrp="1"/>
          </p:cNvSpPr>
          <p:nvPr/>
        </p:nvSpPr>
        <p:spPr>
          <a:xfrm>
            <a:off x="4762500" y="2743200"/>
            <a:ext cx="6191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Product units, restocking, stock adjustments, and low-stock monitoring.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87FC9F-4F17-4235-A334-04874994BC2D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10172700" cy="9525"/>
          </a:xfrm>
          <a:prstGeom prst="rect">
            <a:avLst/>
          </a:prstGeom>
          <a:solidFill>
            <a:srgbClr val="DEDED4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013858-9CE8-4804-8E4D-11B285E646F4}"/>
              </a:ext>
            </a:extLst>
          </p:cNvPr>
          <p:cNvSpPr>
            <a:spLocks noGrp="1"/>
          </p:cNvSpPr>
          <p:nvPr/>
        </p:nvSpPr>
        <p:spPr>
          <a:xfrm>
            <a:off x="781050" y="36004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389D1D-C8C5-405C-B2B4-892AE37C1302}"/>
              </a:ext>
            </a:extLst>
          </p:cNvPr>
          <p:cNvSpPr>
            <a:spLocks noGrp="1"/>
          </p:cNvSpPr>
          <p:nvPr/>
        </p:nvSpPr>
        <p:spPr>
          <a:xfrm>
            <a:off x="1428750" y="3581400"/>
            <a:ext cx="314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Customer utang ledger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5EF1D1-9F5A-4BED-B0F4-AAC3EE2E4296}"/>
              </a:ext>
            </a:extLst>
          </p:cNvPr>
          <p:cNvSpPr>
            <a:spLocks noGrp="1"/>
          </p:cNvSpPr>
          <p:nvPr/>
        </p:nvSpPr>
        <p:spPr>
          <a:xfrm>
            <a:off x="4762500" y="3581400"/>
            <a:ext cx="6191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Customer balances, purchase entries, and payment recording.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5E9C58-976B-4F62-91CF-10885DAB2D82}"/>
              </a:ext>
            </a:extLst>
          </p:cNvPr>
          <p:cNvSpPr>
            <a:spLocks noGrp="1"/>
          </p:cNvSpPr>
          <p:nvPr/>
        </p:nvSpPr>
        <p:spPr>
          <a:xfrm>
            <a:off x="781050" y="4219575"/>
            <a:ext cx="10172700" cy="9525"/>
          </a:xfrm>
          <a:prstGeom prst="rect">
            <a:avLst/>
          </a:prstGeom>
          <a:solidFill>
            <a:srgbClr val="DEDED4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5DED76-C924-4A21-9827-1EB5E4E837B3}"/>
              </a:ext>
            </a:extLst>
          </p:cNvPr>
          <p:cNvSpPr>
            <a:spLocks noGrp="1"/>
          </p:cNvSpPr>
          <p:nvPr/>
        </p:nvSpPr>
        <p:spPr>
          <a:xfrm>
            <a:off x="781050" y="4438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A6562F-8D17-4E64-BB5D-D0DA1B7232B9}"/>
              </a:ext>
            </a:extLst>
          </p:cNvPr>
          <p:cNvSpPr>
            <a:spLocks noGrp="1"/>
          </p:cNvSpPr>
          <p:nvPr/>
        </p:nvSpPr>
        <p:spPr>
          <a:xfrm>
            <a:off x="1428750" y="4419600"/>
            <a:ext cx="314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Reports and expenses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5B08EC-8E15-405D-BED8-0A51786D17E1}"/>
              </a:ext>
            </a:extLst>
          </p:cNvPr>
          <p:cNvSpPr>
            <a:spLocks noGrp="1"/>
          </p:cNvSpPr>
          <p:nvPr/>
        </p:nvSpPr>
        <p:spPr>
          <a:xfrm>
            <a:off x="4762500" y="4419600"/>
            <a:ext cx="6191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Daily sales summary, expenses, transactions, and top products.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DAFA0F-3C7E-4070-80D5-3F8869D82C30}"/>
              </a:ext>
            </a:extLst>
          </p:cNvPr>
          <p:cNvSpPr>
            <a:spLocks noGrp="1"/>
          </p:cNvSpPr>
          <p:nvPr/>
        </p:nvSpPr>
        <p:spPr>
          <a:xfrm>
            <a:off x="781050" y="5057775"/>
            <a:ext cx="10172700" cy="9525"/>
          </a:xfrm>
          <a:prstGeom prst="rect">
            <a:avLst/>
          </a:prstGeom>
          <a:solidFill>
            <a:srgbClr val="DEDED4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D0D887-1A79-4660-8C04-5B8A7A290B98}"/>
              </a:ext>
            </a:extLst>
          </p:cNvPr>
          <p:cNvSpPr>
            <a:spLocks noGrp="1"/>
          </p:cNvSpPr>
          <p:nvPr/>
        </p:nvSpPr>
        <p:spPr>
          <a:xfrm>
            <a:off x="781050" y="52768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04FDEE-85C4-499A-97E8-92ACF21CBD81}"/>
              </a:ext>
            </a:extLst>
          </p:cNvPr>
          <p:cNvSpPr>
            <a:spLocks noGrp="1"/>
          </p:cNvSpPr>
          <p:nvPr/>
        </p:nvSpPr>
        <p:spPr>
          <a:xfrm>
            <a:off x="1428750" y="5257800"/>
            <a:ext cx="314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Access and recovery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7EE79E-F3ED-4D83-8A08-8C589F5492DD}"/>
              </a:ext>
            </a:extLst>
          </p:cNvPr>
          <p:cNvSpPr>
            <a:spLocks noGrp="1"/>
          </p:cNvSpPr>
          <p:nvPr/>
        </p:nvSpPr>
        <p:spPr>
          <a:xfrm>
            <a:off x="4762500" y="5257800"/>
            <a:ext cx="6191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Staff roles, offline synchronization, product images, and encrypted backups.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177A54-10B7-4889-ACFF-9AB2E121455C}"/>
              </a:ext>
            </a:extLst>
          </p:cNvPr>
          <p:cNvSpPr>
            <a:spLocks noGrp="1"/>
          </p:cNvSpPr>
          <p:nvPr/>
        </p:nvSpPr>
        <p:spPr>
          <a:xfrm>
            <a:off x="9925050" y="1200150"/>
            <a:ext cx="1028700" cy="85725"/>
          </a:xfrm>
          <a:prstGeom prst="rect">
            <a:avLst/>
          </a:prstGeom>
          <a:solidFill>
            <a:srgbClr val="F2C94C"/>
          </a:solidFill>
          <a:ln w="0"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B1DFDB-E1E6-4AC7-B900-37F84D8C0C2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2B8693-622B-42EB-9DC6-D07E64F53DB5}"/>
              </a:ext>
            </a:extLst>
          </p:cNvPr>
          <p:cNvSpPr>
            <a:spLocks noGrp="1"/>
          </p:cNvSpPr>
          <p:nvPr/>
        </p:nvSpPr>
        <p:spPr>
          <a:xfrm>
            <a:off x="11010900" y="6457950"/>
            <a:ext cx="495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9270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-6-number">
            <a:extLst>
              <a:ext uri="{FF2B5EF4-FFF2-40B4-BE49-F238E27FC236}">
                <a16:creationId xmlns:a16="http://schemas.microsoft.com/office/drawing/2014/main" id="{DBC20818-A00E-4046-B5B7-2BBAAB0B13E1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" name="slide-6-title">
            <a:extLst>
              <a:ext uri="{FF2B5EF4-FFF2-40B4-BE49-F238E27FC236}">
                <a16:creationId xmlns:a16="http://schemas.microsoft.com/office/drawing/2014/main" id="{103952AB-D0AC-4810-B009-9E4E2F42364F}"/>
              </a:ext>
            </a:extLst>
          </p:cNvPr>
          <p:cNvSpPr>
            <a:spLocks noGrp="1"/>
          </p:cNvSpPr>
          <p:nvPr/>
        </p:nvSpPr>
        <p:spPr>
          <a:xfrm>
            <a:off x="1314450" y="323850"/>
            <a:ext cx="9906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Basic system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6F794A-6A1A-40DB-AF9C-9DAD6134A32A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820400" cy="19050"/>
          </a:xfrm>
          <a:prstGeom prst="rect">
            <a:avLst/>
          </a:prstGeom>
          <a:solidFill>
            <a:srgbClr val="116149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6247B-51B0-4FB1-BFE9-C306B807D817}"/>
              </a:ext>
            </a:extLst>
          </p:cNvPr>
          <p:cNvSpPr>
            <a:spLocks noGrp="1"/>
          </p:cNvSpPr>
          <p:nvPr/>
        </p:nvSpPr>
        <p:spPr>
          <a:xfrm>
            <a:off x="742950" y="1257300"/>
            <a:ext cx="685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Core selling steps remain available after the first online setup.</a:t>
            </a:r>
          </a:p>
        </p:txBody>
      </p:sp>
      <p:sp>
        <p:nvSpPr>
          <p:cNvPr id="5" name="workflow-step-1">
            <a:extLst>
              <a:ext uri="{FF2B5EF4-FFF2-40B4-BE49-F238E27FC236}">
                <a16:creationId xmlns:a16="http://schemas.microsoft.com/office/drawing/2014/main" id="{33426B64-0AD3-4BBB-8C1B-E7305A23248D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2247900" cy="1219200"/>
          </a:xfrm>
          <a:prstGeom prst="roundRect">
            <a:avLst>
              <a:gd name="adj" fmla="val 15625"/>
            </a:avLst>
          </a:prstGeom>
          <a:solidFill>
            <a:srgbClr val="FFFDF8"/>
          </a:solidFill>
          <a:ln w="9525">
            <a:solidFill>
              <a:srgbClr val="DE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F589D7-704A-4EA8-84C2-C3C122302A39}"/>
              </a:ext>
            </a:extLst>
          </p:cNvPr>
          <p:cNvSpPr>
            <a:spLocks noGrp="1"/>
          </p:cNvSpPr>
          <p:nvPr/>
        </p:nvSpPr>
        <p:spPr>
          <a:xfrm>
            <a:off x="914400" y="2162175"/>
            <a:ext cx="342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9FEC75-952F-4248-916A-99B226C082F5}"/>
              </a:ext>
            </a:extLst>
          </p:cNvPr>
          <p:cNvSpPr>
            <a:spLocks noGrp="1"/>
          </p:cNvSpPr>
          <p:nvPr/>
        </p:nvSpPr>
        <p:spPr>
          <a:xfrm>
            <a:off x="1333500" y="2171700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Staff sign-in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A5E446-B608-4DA2-8E90-B49FFAE9E0C8}"/>
              </a:ext>
            </a:extLst>
          </p:cNvPr>
          <p:cNvSpPr>
            <a:spLocks noGrp="1"/>
          </p:cNvSpPr>
          <p:nvPr/>
        </p:nvSpPr>
        <p:spPr>
          <a:xfrm>
            <a:off x="914400" y="2619375"/>
            <a:ext cx="1885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Role and store access</a:t>
            </a:r>
          </a:p>
        </p:txBody>
      </p:sp>
      <p:sp>
        <p:nvSpPr>
          <p:cNvPr id="9" name="workflow-step-2">
            <a:extLst>
              <a:ext uri="{FF2B5EF4-FFF2-40B4-BE49-F238E27FC236}">
                <a16:creationId xmlns:a16="http://schemas.microsoft.com/office/drawing/2014/main" id="{F19227D2-B6EA-4A2A-9B56-8A47A61C51A1}"/>
              </a:ext>
            </a:extLst>
          </p:cNvPr>
          <p:cNvSpPr>
            <a:spLocks noGrp="1"/>
          </p:cNvSpPr>
          <p:nvPr/>
        </p:nvSpPr>
        <p:spPr>
          <a:xfrm>
            <a:off x="3429000" y="2000250"/>
            <a:ext cx="2247900" cy="1219200"/>
          </a:xfrm>
          <a:prstGeom prst="roundRect">
            <a:avLst>
              <a:gd name="adj" fmla="val 15625"/>
            </a:avLst>
          </a:prstGeom>
          <a:solidFill>
            <a:srgbClr val="FFFDF8"/>
          </a:solidFill>
          <a:ln w="9525">
            <a:solidFill>
              <a:srgbClr val="DE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AC0BA6-EC88-49FD-8EB0-3CE92ADA5C83}"/>
              </a:ext>
            </a:extLst>
          </p:cNvPr>
          <p:cNvSpPr>
            <a:spLocks noGrp="1"/>
          </p:cNvSpPr>
          <p:nvPr/>
        </p:nvSpPr>
        <p:spPr>
          <a:xfrm>
            <a:off x="3600450" y="2162175"/>
            <a:ext cx="342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D0459F-9A05-448A-A6F0-FC11E344A150}"/>
              </a:ext>
            </a:extLst>
          </p:cNvPr>
          <p:cNvSpPr>
            <a:spLocks noGrp="1"/>
          </p:cNvSpPr>
          <p:nvPr/>
        </p:nvSpPr>
        <p:spPr>
          <a:xfrm>
            <a:off x="4019550" y="2171700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Find products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5D1E5A-1514-4A02-861C-CBF06FDE5088}"/>
              </a:ext>
            </a:extLst>
          </p:cNvPr>
          <p:cNvSpPr>
            <a:spLocks noGrp="1"/>
          </p:cNvSpPr>
          <p:nvPr/>
        </p:nvSpPr>
        <p:spPr>
          <a:xfrm>
            <a:off x="3600450" y="2619375"/>
            <a:ext cx="1885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Search or scan barcode</a:t>
            </a:r>
          </a:p>
        </p:txBody>
      </p:sp>
      <p:sp>
        <p:nvSpPr>
          <p:cNvPr id="13" name="workflow-step-3">
            <a:extLst>
              <a:ext uri="{FF2B5EF4-FFF2-40B4-BE49-F238E27FC236}">
                <a16:creationId xmlns:a16="http://schemas.microsoft.com/office/drawing/2014/main" id="{40E21C5C-1292-444D-B06D-8504FFA938C9}"/>
              </a:ext>
            </a:extLst>
          </p:cNvPr>
          <p:cNvSpPr>
            <a:spLocks noGrp="1"/>
          </p:cNvSpPr>
          <p:nvPr/>
        </p:nvSpPr>
        <p:spPr>
          <a:xfrm>
            <a:off x="6115050" y="2000250"/>
            <a:ext cx="2247900" cy="1219200"/>
          </a:xfrm>
          <a:prstGeom prst="roundRect">
            <a:avLst>
              <a:gd name="adj" fmla="val 15625"/>
            </a:avLst>
          </a:prstGeom>
          <a:solidFill>
            <a:srgbClr val="FFFDF8"/>
          </a:solidFill>
          <a:ln w="9525">
            <a:solidFill>
              <a:srgbClr val="DE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391E69-BEE7-49A7-80A4-D6703DCFDF61}"/>
              </a:ext>
            </a:extLst>
          </p:cNvPr>
          <p:cNvSpPr>
            <a:spLocks noGrp="1"/>
          </p:cNvSpPr>
          <p:nvPr/>
        </p:nvSpPr>
        <p:spPr>
          <a:xfrm>
            <a:off x="6286500" y="2162175"/>
            <a:ext cx="342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8DB7C9-F38E-4B8C-8DDC-3CDBE41BC867}"/>
              </a:ext>
            </a:extLst>
          </p:cNvPr>
          <p:cNvSpPr>
            <a:spLocks noGrp="1"/>
          </p:cNvSpPr>
          <p:nvPr/>
        </p:nvSpPr>
        <p:spPr>
          <a:xfrm>
            <a:off x="6705600" y="2171700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Build the cart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C90822-A17A-4FEB-B71A-3E96CF0DFF50}"/>
              </a:ext>
            </a:extLst>
          </p:cNvPr>
          <p:cNvSpPr>
            <a:spLocks noGrp="1"/>
          </p:cNvSpPr>
          <p:nvPr/>
        </p:nvSpPr>
        <p:spPr>
          <a:xfrm>
            <a:off x="6286500" y="2619375"/>
            <a:ext cx="1885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Set quantity or amount</a:t>
            </a:r>
          </a:p>
        </p:txBody>
      </p:sp>
      <p:sp>
        <p:nvSpPr>
          <p:cNvPr id="17" name="workflow-step-4">
            <a:extLst>
              <a:ext uri="{FF2B5EF4-FFF2-40B4-BE49-F238E27FC236}">
                <a16:creationId xmlns:a16="http://schemas.microsoft.com/office/drawing/2014/main" id="{80174EAA-E746-4796-80B8-19902D51117C}"/>
              </a:ext>
            </a:extLst>
          </p:cNvPr>
          <p:cNvSpPr>
            <a:spLocks noGrp="1"/>
          </p:cNvSpPr>
          <p:nvPr/>
        </p:nvSpPr>
        <p:spPr>
          <a:xfrm>
            <a:off x="8801100" y="2000250"/>
            <a:ext cx="2247900" cy="1219200"/>
          </a:xfrm>
          <a:prstGeom prst="roundRect">
            <a:avLst>
              <a:gd name="adj" fmla="val 15625"/>
            </a:avLst>
          </a:prstGeom>
          <a:solidFill>
            <a:srgbClr val="FFFDF8"/>
          </a:solidFill>
          <a:ln w="9525">
            <a:solidFill>
              <a:srgbClr val="DE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E9F493-B764-4A12-A9FF-F86E6827E956}"/>
              </a:ext>
            </a:extLst>
          </p:cNvPr>
          <p:cNvSpPr>
            <a:spLocks noGrp="1"/>
          </p:cNvSpPr>
          <p:nvPr/>
        </p:nvSpPr>
        <p:spPr>
          <a:xfrm>
            <a:off x="8972550" y="2162175"/>
            <a:ext cx="342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CBE90E-9152-4C63-9B78-522A454D79EA}"/>
              </a:ext>
            </a:extLst>
          </p:cNvPr>
          <p:cNvSpPr>
            <a:spLocks noGrp="1"/>
          </p:cNvSpPr>
          <p:nvPr/>
        </p:nvSpPr>
        <p:spPr>
          <a:xfrm>
            <a:off x="9391650" y="2171700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Select payment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8403CA-6219-42CE-8686-42DF7EB2B677}"/>
              </a:ext>
            </a:extLst>
          </p:cNvPr>
          <p:cNvSpPr>
            <a:spLocks noGrp="1"/>
          </p:cNvSpPr>
          <p:nvPr/>
        </p:nvSpPr>
        <p:spPr>
          <a:xfrm>
            <a:off x="8972550" y="2619375"/>
            <a:ext cx="1885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Cash, e-wallet, or utang</a:t>
            </a:r>
          </a:p>
        </p:txBody>
      </p:sp>
      <p:sp>
        <p:nvSpPr>
          <p:cNvPr id="21" name="workflow-step-5">
            <a:extLst>
              <a:ext uri="{FF2B5EF4-FFF2-40B4-BE49-F238E27FC236}">
                <a16:creationId xmlns:a16="http://schemas.microsoft.com/office/drawing/2014/main" id="{8B16199B-820D-481E-B691-76130D443E23}"/>
              </a:ext>
            </a:extLst>
          </p:cNvPr>
          <p:cNvSpPr>
            <a:spLocks noGrp="1"/>
          </p:cNvSpPr>
          <p:nvPr/>
        </p:nvSpPr>
        <p:spPr>
          <a:xfrm>
            <a:off x="8801100" y="4429125"/>
            <a:ext cx="2247900" cy="1219200"/>
          </a:xfrm>
          <a:prstGeom prst="roundRect">
            <a:avLst>
              <a:gd name="adj" fmla="val 15625"/>
            </a:avLst>
          </a:prstGeom>
          <a:solidFill>
            <a:srgbClr val="0B4937"/>
          </a:solidFill>
          <a:ln w="9525">
            <a:solidFill>
              <a:srgbClr val="0B493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5A26AF-DB24-4943-B5BF-E9E3114548C0}"/>
              </a:ext>
            </a:extLst>
          </p:cNvPr>
          <p:cNvSpPr>
            <a:spLocks noGrp="1"/>
          </p:cNvSpPr>
          <p:nvPr/>
        </p:nvSpPr>
        <p:spPr>
          <a:xfrm>
            <a:off x="8972550" y="4591050"/>
            <a:ext cx="342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F2C94C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F2C94C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E69337-812A-4951-A2C4-2F21EC8213B5}"/>
              </a:ext>
            </a:extLst>
          </p:cNvPr>
          <p:cNvSpPr>
            <a:spLocks noGrp="1"/>
          </p:cNvSpPr>
          <p:nvPr/>
        </p:nvSpPr>
        <p:spPr>
          <a:xfrm>
            <a:off x="9391650" y="4600575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Save the sale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C820F9-1180-40D7-B06A-C3248290ED5D}"/>
              </a:ext>
            </a:extLst>
          </p:cNvPr>
          <p:cNvSpPr>
            <a:spLocks noGrp="1"/>
          </p:cNvSpPr>
          <p:nvPr/>
        </p:nvSpPr>
        <p:spPr>
          <a:xfrm>
            <a:off x="8972550" y="5048250"/>
            <a:ext cx="1885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125" b="0" i="0">
                <a:solidFill>
                  <a:srgbClr val="DCEBE2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CEBE2"/>
                </a:solidFill>
                <a:latin typeface="Avenir Next"/>
                <a:ea typeface="Avenir Next"/>
                <a:cs typeface="Avenir Next"/>
              </a:rPr>
              <a:t>Stored on the device first</a:t>
            </a:r>
          </a:p>
        </p:txBody>
      </p:sp>
      <p:sp>
        <p:nvSpPr>
          <p:cNvPr id="25" name="workflow-step-6">
            <a:extLst>
              <a:ext uri="{FF2B5EF4-FFF2-40B4-BE49-F238E27FC236}">
                <a16:creationId xmlns:a16="http://schemas.microsoft.com/office/drawing/2014/main" id="{1E06DE53-F465-4864-83A2-E500964C4704}"/>
              </a:ext>
            </a:extLst>
          </p:cNvPr>
          <p:cNvSpPr>
            <a:spLocks noGrp="1"/>
          </p:cNvSpPr>
          <p:nvPr/>
        </p:nvSpPr>
        <p:spPr>
          <a:xfrm>
            <a:off x="6115050" y="4429125"/>
            <a:ext cx="2247900" cy="1219200"/>
          </a:xfrm>
          <a:prstGeom prst="roundRect">
            <a:avLst>
              <a:gd name="adj" fmla="val 15625"/>
            </a:avLst>
          </a:prstGeom>
          <a:solidFill>
            <a:srgbClr val="FFFDF8"/>
          </a:solidFill>
          <a:ln w="9525">
            <a:solidFill>
              <a:srgbClr val="DE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9233B6-AF8C-4E90-8687-42B8E98AB609}"/>
              </a:ext>
            </a:extLst>
          </p:cNvPr>
          <p:cNvSpPr>
            <a:spLocks noGrp="1"/>
          </p:cNvSpPr>
          <p:nvPr/>
        </p:nvSpPr>
        <p:spPr>
          <a:xfrm>
            <a:off x="6286500" y="4591050"/>
            <a:ext cx="342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B39A1F-53B1-4661-86B5-CEAA3E1C0488}"/>
              </a:ext>
            </a:extLst>
          </p:cNvPr>
          <p:cNvSpPr>
            <a:spLocks noGrp="1"/>
          </p:cNvSpPr>
          <p:nvPr/>
        </p:nvSpPr>
        <p:spPr>
          <a:xfrm>
            <a:off x="6705600" y="4600575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Update records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2FD0CE-638C-42DD-8560-1BED3009CEB1}"/>
              </a:ext>
            </a:extLst>
          </p:cNvPr>
          <p:cNvSpPr>
            <a:spLocks noGrp="1"/>
          </p:cNvSpPr>
          <p:nvPr/>
        </p:nvSpPr>
        <p:spPr>
          <a:xfrm>
            <a:off x="6286500" y="5048250"/>
            <a:ext cx="1885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Stock, ledger, and reports</a:t>
            </a:r>
          </a:p>
        </p:txBody>
      </p:sp>
      <p:sp>
        <p:nvSpPr>
          <p:cNvPr id="29" name="workflow-step-7">
            <a:extLst>
              <a:ext uri="{FF2B5EF4-FFF2-40B4-BE49-F238E27FC236}">
                <a16:creationId xmlns:a16="http://schemas.microsoft.com/office/drawing/2014/main" id="{5B04A4D3-36A6-47B3-8B8C-35F20C0EB3BC}"/>
              </a:ext>
            </a:extLst>
          </p:cNvPr>
          <p:cNvSpPr>
            <a:spLocks noGrp="1"/>
          </p:cNvSpPr>
          <p:nvPr/>
        </p:nvSpPr>
        <p:spPr>
          <a:xfrm>
            <a:off x="3429000" y="4429125"/>
            <a:ext cx="2247900" cy="1219200"/>
          </a:xfrm>
          <a:prstGeom prst="roundRect">
            <a:avLst>
              <a:gd name="adj" fmla="val 15625"/>
            </a:avLst>
          </a:prstGeom>
          <a:solidFill>
            <a:srgbClr val="FFFDF8"/>
          </a:solidFill>
          <a:ln w="9525">
            <a:solidFill>
              <a:srgbClr val="DEDED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FC6AF08-5936-4CF5-994D-FC75808F75BA}"/>
              </a:ext>
            </a:extLst>
          </p:cNvPr>
          <p:cNvSpPr>
            <a:spLocks noGrp="1"/>
          </p:cNvSpPr>
          <p:nvPr/>
        </p:nvSpPr>
        <p:spPr>
          <a:xfrm>
            <a:off x="3600450" y="4591050"/>
            <a:ext cx="342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B844CF-5681-4002-B3D8-6EE07118E0D4}"/>
              </a:ext>
            </a:extLst>
          </p:cNvPr>
          <p:cNvSpPr>
            <a:spLocks noGrp="1"/>
          </p:cNvSpPr>
          <p:nvPr/>
        </p:nvSpPr>
        <p:spPr>
          <a:xfrm>
            <a:off x="4019550" y="4600575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Sync 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C1E8F5-C798-4DB9-B4DB-4EBD97FD940D}"/>
              </a:ext>
            </a:extLst>
          </p:cNvPr>
          <p:cNvSpPr>
            <a:spLocks noGrp="1"/>
          </p:cNvSpPr>
          <p:nvPr/>
        </p:nvSpPr>
        <p:spPr>
          <a:xfrm>
            <a:off x="3600450" y="5048250"/>
            <a:ext cx="1885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Back up when online</a:t>
            </a:r>
          </a:p>
        </p:txBody>
      </p:sp>
      <p:cxnSp>
        <p:nvCxnSpPr>
          <p:cNvPr id="76" name="Straight Arrow Connector 75"/>
          <p:cNvCxnSpPr>
            <a:stCxn id="5" idx="3"/>
            <a:endCxn id="9" idx="1"/>
          </p:cNvCxnSpPr>
          <p:nvPr/>
        </p:nvCxnSpPr>
        <p:spPr>
          <a:xfrm>
            <a:off x="2990850" y="2609850"/>
            <a:ext cx="438150" cy="0"/>
          </a:xfrm>
          <a:prstGeom prst="straightConnector1">
            <a:avLst/>
          </a:prstGeom>
          <a:ln w="28575">
            <a:solidFill>
              <a:srgbClr val="116149"/>
            </a:solidFill>
            <a:prstDash val="solid"/>
            <a:tailEnd type="triangle" w="sm" len="sm"/>
          </a:ln>
        </p:spPr>
      </p:cxnSp>
      <p:cxnSp>
        <p:nvCxnSpPr>
          <p:cNvPr id="77" name="Straight Arrow Connector 76"/>
          <p:cNvCxnSpPr>
            <a:stCxn id="9" idx="3"/>
            <a:endCxn id="13" idx="1"/>
          </p:cNvCxnSpPr>
          <p:nvPr/>
        </p:nvCxnSpPr>
        <p:spPr>
          <a:xfrm>
            <a:off x="5676900" y="2609850"/>
            <a:ext cx="438150" cy="0"/>
          </a:xfrm>
          <a:prstGeom prst="straightConnector1">
            <a:avLst/>
          </a:prstGeom>
          <a:ln w="28575">
            <a:solidFill>
              <a:srgbClr val="116149"/>
            </a:solidFill>
            <a:prstDash val="solid"/>
            <a:tailEnd type="triangle" w="sm" len="sm"/>
          </a:ln>
        </p:spPr>
      </p:cxnSp>
      <p:cxnSp>
        <p:nvCxnSpPr>
          <p:cNvPr id="78" name="Straight Arrow Connector 77"/>
          <p:cNvCxnSpPr>
            <a:stCxn id="13" idx="3"/>
            <a:endCxn id="17" idx="1"/>
          </p:cNvCxnSpPr>
          <p:nvPr/>
        </p:nvCxnSpPr>
        <p:spPr>
          <a:xfrm>
            <a:off x="8362950" y="2609850"/>
            <a:ext cx="438150" cy="0"/>
          </a:xfrm>
          <a:prstGeom prst="straightConnector1">
            <a:avLst/>
          </a:prstGeom>
          <a:ln w="28575">
            <a:solidFill>
              <a:srgbClr val="116149"/>
            </a:solidFill>
            <a:prstDash val="solid"/>
            <a:tailEnd type="triangle" w="sm" len="sm"/>
          </a:ln>
        </p:spPr>
      </p:cxnSp>
      <p:cxnSp>
        <p:nvCxnSpPr>
          <p:cNvPr id="79" name="Straight Arrow Connector 78"/>
          <p:cNvCxnSpPr>
            <a:stCxn id="17" idx="2"/>
            <a:endCxn id="21" idx="0"/>
          </p:cNvCxnSpPr>
          <p:nvPr/>
        </p:nvCxnSpPr>
        <p:spPr>
          <a:xfrm>
            <a:off x="9925050" y="3219450"/>
            <a:ext cx="0" cy="1209675"/>
          </a:xfrm>
          <a:prstGeom prst="straightConnector1">
            <a:avLst/>
          </a:prstGeom>
          <a:ln w="28575">
            <a:solidFill>
              <a:srgbClr val="116149"/>
            </a:solidFill>
            <a:prstDash val="solid"/>
            <a:tailEnd type="triangle" w="sm" len="sm"/>
          </a:ln>
        </p:spPr>
      </p:cxnSp>
      <p:cxnSp>
        <p:nvCxnSpPr>
          <p:cNvPr id="80" name="Straight Arrow Connector 79"/>
          <p:cNvCxnSpPr>
            <a:stCxn id="21" idx="1"/>
            <a:endCxn id="25" idx="3"/>
          </p:cNvCxnSpPr>
          <p:nvPr/>
        </p:nvCxnSpPr>
        <p:spPr>
          <a:xfrm flipH="1">
            <a:off x="8362950" y="5038725"/>
            <a:ext cx="438150" cy="0"/>
          </a:xfrm>
          <a:prstGeom prst="straightConnector1">
            <a:avLst/>
          </a:prstGeom>
          <a:ln w="28575">
            <a:solidFill>
              <a:srgbClr val="116149"/>
            </a:solidFill>
            <a:prstDash val="solid"/>
            <a:tailEnd type="triangle" w="sm" len="sm"/>
          </a:ln>
        </p:spPr>
      </p:cxnSp>
      <p:cxnSp>
        <p:nvCxnSpPr>
          <p:cNvPr id="81" name="Straight Arrow Connector 80"/>
          <p:cNvCxnSpPr>
            <a:stCxn id="25" idx="1"/>
            <a:endCxn id="29" idx="3"/>
          </p:cNvCxnSpPr>
          <p:nvPr/>
        </p:nvCxnSpPr>
        <p:spPr>
          <a:xfrm flipH="1">
            <a:off x="5676900" y="5038725"/>
            <a:ext cx="438150" cy="0"/>
          </a:xfrm>
          <a:prstGeom prst="straightConnector1">
            <a:avLst/>
          </a:prstGeom>
          <a:ln w="28575">
            <a:solidFill>
              <a:srgbClr val="116149"/>
            </a:solidFill>
            <a:prstDash val="solid"/>
            <a:tailEnd type="triangle" w="sm" len="sm"/>
          </a:ln>
        </p:spPr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4025E966-E418-4D8F-963E-291AF72A4B02}"/>
              </a:ext>
            </a:extLst>
          </p:cNvPr>
          <p:cNvSpPr>
            <a:spLocks noGrp="1"/>
          </p:cNvSpPr>
          <p:nvPr/>
        </p:nvSpPr>
        <p:spPr>
          <a:xfrm>
            <a:off x="762000" y="3514725"/>
            <a:ext cx="1809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OFFLINE CORE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536EB4-A0E5-42BF-ACB5-B647CF946884}"/>
              </a:ext>
            </a:extLst>
          </p:cNvPr>
          <p:cNvSpPr>
            <a:spLocks noGrp="1"/>
          </p:cNvSpPr>
          <p:nvPr/>
        </p:nvSpPr>
        <p:spPr>
          <a:xfrm>
            <a:off x="742950" y="3790950"/>
            <a:ext cx="10306050" cy="19050"/>
          </a:xfrm>
          <a:prstGeom prst="rect">
            <a:avLst/>
          </a:prstGeom>
          <a:solidFill>
            <a:srgbClr val="DCEBE2"/>
          </a:solidFill>
          <a:ln w="0">
            <a:noFill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D592E2-FEFE-4EEE-B14C-4D510AB14F18}"/>
              </a:ext>
            </a:extLst>
          </p:cNvPr>
          <p:cNvSpPr>
            <a:spLocks noGrp="1"/>
          </p:cNvSpPr>
          <p:nvPr/>
        </p:nvSpPr>
        <p:spPr>
          <a:xfrm>
            <a:off x="9163050" y="5886450"/>
            <a:ext cx="18859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ONLINE WHEN AVAILABLE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2BA9511-961A-4A8A-B433-FDC5B207A52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E732909-FBCD-4261-8EDB-EBDCFD0D6C5A}"/>
              </a:ext>
            </a:extLst>
          </p:cNvPr>
          <p:cNvSpPr>
            <a:spLocks noGrp="1"/>
          </p:cNvSpPr>
          <p:nvPr/>
        </p:nvSpPr>
        <p:spPr>
          <a:xfrm>
            <a:off x="11010900" y="6457950"/>
            <a:ext cx="495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9814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7-number">
            <a:extLst>
              <a:ext uri="{FF2B5EF4-FFF2-40B4-BE49-F238E27FC236}">
                <a16:creationId xmlns:a16="http://schemas.microsoft.com/office/drawing/2014/main" id="{051DC3A4-B2F3-4947-A8DC-4A2AB30AA74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2" name="slide-7-title">
            <a:extLst>
              <a:ext uri="{FF2B5EF4-FFF2-40B4-BE49-F238E27FC236}">
                <a16:creationId xmlns:a16="http://schemas.microsoft.com/office/drawing/2014/main" id="{42B03446-F6BF-490F-BA96-08490CE8DFD6}"/>
              </a:ext>
            </a:extLst>
          </p:cNvPr>
          <p:cNvSpPr>
            <a:spLocks noGrp="1"/>
          </p:cNvSpPr>
          <p:nvPr/>
        </p:nvSpPr>
        <p:spPr>
          <a:xfrm>
            <a:off x="1314450" y="323850"/>
            <a:ext cx="9906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Technologies and tools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11646A-9721-4616-9068-D9EBCC240440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820400" cy="19050"/>
          </a:xfrm>
          <a:prstGeom prst="rect">
            <a:avLst/>
          </a:prstGeom>
          <a:solidFill>
            <a:srgbClr val="116149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ECE87A-5BB6-46EA-B348-49B99BAC0E0E}"/>
              </a:ext>
            </a:extLst>
          </p:cNvPr>
          <p:cNvSpPr>
            <a:spLocks noGrp="1"/>
          </p:cNvSpPr>
          <p:nvPr/>
        </p:nvSpPr>
        <p:spPr>
          <a:xfrm>
            <a:off x="742950" y="1257300"/>
            <a:ext cx="7715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A web stack supports mobile use, offline operation, and centralized store data.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2510553-E844-43E5-80E3-CE1165BBC27B}"/>
              </a:ext>
            </a:extLst>
          </p:cNvPr>
          <p:cNvSpPr>
            <a:spLocks noGrp="1"/>
          </p:cNvSpPr>
          <p:nvPr/>
        </p:nvSpPr>
        <p:spPr>
          <a:xfrm>
            <a:off x="742950" y="1952625"/>
            <a:ext cx="10477500" cy="685800"/>
          </a:xfrm>
          <a:prstGeom prst="roundRect">
            <a:avLst>
              <a:gd name="adj" fmla="val 22222"/>
            </a:avLst>
          </a:prstGeom>
          <a:solidFill>
            <a:srgbClr val="0B4937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15F4B0-78C1-4344-AB9D-1F1CBA9A49E7}"/>
              </a:ext>
            </a:extLst>
          </p:cNvPr>
          <p:cNvSpPr>
            <a:spLocks noGrp="1"/>
          </p:cNvSpPr>
          <p:nvPr/>
        </p:nvSpPr>
        <p:spPr>
          <a:xfrm>
            <a:off x="971550" y="21717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F2C94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2C94C"/>
                </a:solidFill>
                <a:latin typeface="Avenir Next"/>
                <a:ea typeface="Avenir Next"/>
                <a:cs typeface="Avenir Next"/>
              </a:rPr>
              <a:t>INTERFACE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A4E29C-7663-4F74-9622-62919B60555D}"/>
              </a:ext>
            </a:extLst>
          </p:cNvPr>
          <p:cNvSpPr>
            <a:spLocks noGrp="1"/>
          </p:cNvSpPr>
          <p:nvPr/>
        </p:nvSpPr>
        <p:spPr>
          <a:xfrm>
            <a:off x="3105150" y="2124075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Next.js  ·  React  ·  TypeScript  ·  Progressive Web App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A16881-0BF0-4179-A0ED-A141B5E6C1C3}"/>
              </a:ext>
            </a:extLst>
          </p:cNvPr>
          <p:cNvSpPr>
            <a:spLocks noGrp="1"/>
          </p:cNvSpPr>
          <p:nvPr/>
        </p:nvSpPr>
        <p:spPr>
          <a:xfrm>
            <a:off x="742950" y="2905125"/>
            <a:ext cx="9791700" cy="685800"/>
          </a:xfrm>
          <a:prstGeom prst="roundRect">
            <a:avLst>
              <a:gd name="adj" fmla="val 22222"/>
            </a:avLst>
          </a:prstGeom>
          <a:solidFill>
            <a:srgbClr val="DCEBE2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482E77-9DB5-43CC-B440-92FF0411518A}"/>
              </a:ext>
            </a:extLst>
          </p:cNvPr>
          <p:cNvSpPr>
            <a:spLocks noGrp="1"/>
          </p:cNvSpPr>
          <p:nvPr/>
        </p:nvSpPr>
        <p:spPr>
          <a:xfrm>
            <a:off x="971550" y="3124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DEVICE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0870C7-8DD2-4FA5-B7FF-8C3CBBC764D6}"/>
              </a:ext>
            </a:extLst>
          </p:cNvPr>
          <p:cNvSpPr>
            <a:spLocks noGrp="1"/>
          </p:cNvSpPr>
          <p:nvPr/>
        </p:nvSpPr>
        <p:spPr>
          <a:xfrm>
            <a:off x="3105150" y="3076575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Dexie  ·  IndexedDB  ·  Offline command queue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60934D2-9F80-4C73-B7C7-EFE02A2E6207}"/>
              </a:ext>
            </a:extLst>
          </p:cNvPr>
          <p:cNvSpPr>
            <a:spLocks noGrp="1"/>
          </p:cNvSpPr>
          <p:nvPr/>
        </p:nvSpPr>
        <p:spPr>
          <a:xfrm>
            <a:off x="742950" y="3857625"/>
            <a:ext cx="9105900" cy="685800"/>
          </a:xfrm>
          <a:prstGeom prst="roundRect">
            <a:avLst>
              <a:gd name="adj" fmla="val 22222"/>
            </a:avLst>
          </a:prstGeom>
          <a:solidFill>
            <a:srgbClr val="E7EEE9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3BC4A9-2F30-41B2-A68F-990268492E11}"/>
              </a:ext>
            </a:extLst>
          </p:cNvPr>
          <p:cNvSpPr>
            <a:spLocks noGrp="1"/>
          </p:cNvSpPr>
          <p:nvPr/>
        </p:nvSpPr>
        <p:spPr>
          <a:xfrm>
            <a:off x="971550" y="40767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APPLICATION SERVER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A96F2-48B1-4698-AE3D-58781653C12B}"/>
              </a:ext>
            </a:extLst>
          </p:cNvPr>
          <p:cNvSpPr>
            <a:spLocks noGrp="1"/>
          </p:cNvSpPr>
          <p:nvPr/>
        </p:nvSpPr>
        <p:spPr>
          <a:xfrm>
            <a:off x="3105150" y="4029075"/>
            <a:ext cx="647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NestJS  ·  Fastify  ·  Role-based API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211738-ADC4-418B-9944-237C422E242D}"/>
              </a:ext>
            </a:extLst>
          </p:cNvPr>
          <p:cNvSpPr>
            <a:spLocks noGrp="1"/>
          </p:cNvSpPr>
          <p:nvPr/>
        </p:nvSpPr>
        <p:spPr>
          <a:xfrm>
            <a:off x="742950" y="4810125"/>
            <a:ext cx="8420100" cy="685800"/>
          </a:xfrm>
          <a:prstGeom prst="roundRect">
            <a:avLst>
              <a:gd name="adj" fmla="val 22222"/>
            </a:avLst>
          </a:prstGeom>
          <a:solidFill>
            <a:srgbClr val="F7E7B1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14C861-EBB5-43B5-ADB1-863185385EA5}"/>
              </a:ext>
            </a:extLst>
          </p:cNvPr>
          <p:cNvSpPr>
            <a:spLocks noGrp="1"/>
          </p:cNvSpPr>
          <p:nvPr/>
        </p:nvSpPr>
        <p:spPr>
          <a:xfrm>
            <a:off x="971550" y="5029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DATA AND BACKUPS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0667C4-FABC-448E-BB59-12D354FE6BA1}"/>
              </a:ext>
            </a:extLst>
          </p:cNvPr>
          <p:cNvSpPr>
            <a:spLocks noGrp="1"/>
          </p:cNvSpPr>
          <p:nvPr/>
        </p:nvSpPr>
        <p:spPr>
          <a:xfrm>
            <a:off x="3105150" y="4981575"/>
            <a:ext cx="609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PostgreSQL  ·  S3-compatible MinIO  ·  Docker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EE3B9E-07A5-4897-A7DE-E60C7C2D4DC0}"/>
              </a:ext>
            </a:extLst>
          </p:cNvPr>
          <p:cNvSpPr>
            <a:spLocks noGrp="1"/>
          </p:cNvSpPr>
          <p:nvPr/>
        </p:nvSpPr>
        <p:spPr>
          <a:xfrm>
            <a:off x="781050" y="5943600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 i="0">
                <a:solidFill>
                  <a:srgbClr val="0B4937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0B4937"/>
                </a:solidFill>
                <a:latin typeface="Georgia"/>
                <a:ea typeface="Georgia"/>
                <a:cs typeface="Georgia"/>
              </a:rPr>
              <a:t>Local-first experience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207018-5B75-4A1E-AFD8-519F64D13A10}"/>
              </a:ext>
            </a:extLst>
          </p:cNvPr>
          <p:cNvSpPr>
            <a:spLocks noGrp="1"/>
          </p:cNvSpPr>
          <p:nvPr/>
        </p:nvSpPr>
        <p:spPr>
          <a:xfrm>
            <a:off x="3524250" y="5915025"/>
            <a:ext cx="7048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The browser handles daily work. The server supports shared access, synchronization, and recovery.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D352FC-9D91-474B-8446-E20EC5ADB9F1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853F20-D4BF-4975-B67E-6BF2A96CE64E}"/>
              </a:ext>
            </a:extLst>
          </p:cNvPr>
          <p:cNvSpPr>
            <a:spLocks noGrp="1"/>
          </p:cNvSpPr>
          <p:nvPr/>
        </p:nvSpPr>
        <p:spPr>
          <a:xfrm>
            <a:off x="11010900" y="6457950"/>
            <a:ext cx="495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150882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</Words>
  <Application>Microsoft Macintosh PowerPoint</Application>
  <DocSecurity>0</DocSecurity>
  <PresentationFormat>Widescreen</PresentationFormat>
  <Paragraphs>113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Avenir Next</vt:lpstr>
      <vt:lpstr>Calibri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1</cp:revision>
  <dcterms:created xsi:type="dcterms:W3CDTF">2026-09-16T12:25:09Z</dcterms:created>
  <dcterms:modified xsi:type="dcterms:W3CDTF">2026-09-16T12:47:49Z</dcterms:modified>
</cp:coreProperties>
</file>