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a2ee5f83a44e69" /><Relationship Type="http://schemas.openxmlformats.org/officeDocument/2006/relationships/extended-properties" Target="/docProps/app.xml" Id="Rdb6e99cd60eb460d" /><Relationship Type="http://schemas.openxmlformats.org/officeDocument/2006/relationships/officeDocument" Target="/ppt/presentation.xml" Id="Rb4209d7f72b7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1fa8aa26e4e64"/>
  </p:sldMasterIdLst>
  <p:notesMasterIdLst>
    <p:notesMasterId xmlns:r="http://schemas.openxmlformats.org/officeDocument/2006/relationships" r:id="R58724c9a4bd44f2c"/>
  </p:notesMasterIdLst>
  <p:sldIdLst>
    <p:sldId xmlns:r="http://schemas.openxmlformats.org/officeDocument/2006/relationships" id="256" r:id="R74ef0520e9384407"/>
    <p:sldId xmlns:r="http://schemas.openxmlformats.org/officeDocument/2006/relationships" id="257" r:id="R2dae0a01e8264431"/>
    <p:sldId xmlns:r="http://schemas.openxmlformats.org/officeDocument/2006/relationships" id="258" r:id="R51d2a660c9574340"/>
    <p:sldId xmlns:r="http://schemas.openxmlformats.org/officeDocument/2006/relationships" id="259" r:id="Rff84adbd0e144c40"/>
    <p:sldId xmlns:r="http://schemas.openxmlformats.org/officeDocument/2006/relationships" id="260" r:id="R535026b9405b4c38"/>
    <p:sldId xmlns:r="http://schemas.openxmlformats.org/officeDocument/2006/relationships" id="261" r:id="Rb5df7d8bdd1a4452"/>
    <p:sldId xmlns:r="http://schemas.openxmlformats.org/officeDocument/2006/relationships" id="262" r:id="R6e78e6ec851143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6fdec8ddd7470c" /><Relationship Type="http://schemas.openxmlformats.org/officeDocument/2006/relationships/slideMaster" Target="/ppt/slideMasters/slideMaster1.xml" Id="Rae51fa8aa26e4e64" /><Relationship Type="http://schemas.openxmlformats.org/officeDocument/2006/relationships/notesMaster" Target="/ppt/notesMasters/notesMaster1.xml" Id="R58724c9a4bd44f2c" /><Relationship Type="http://schemas.openxmlformats.org/officeDocument/2006/relationships/presProps" Target="/ppt/presProps.xml" Id="Rc28851b54e204495" /><Relationship Type="http://schemas.openxmlformats.org/officeDocument/2006/relationships/tableStyles" Target="/ppt/tableStyles.xml" Id="Rbdc2ddcc63694304" /><Relationship Type="http://schemas.openxmlformats.org/officeDocument/2006/relationships/slide" Target="/ppt/slides/slide1.xml" Id="R74ef0520e9384407" /><Relationship Type="http://schemas.openxmlformats.org/officeDocument/2006/relationships/slide" Target="/ppt/slides/slide2.xml" Id="R2dae0a01e8264431" /><Relationship Type="http://schemas.openxmlformats.org/officeDocument/2006/relationships/slide" Target="/ppt/slides/slide3.xml" Id="R51d2a660c9574340" /><Relationship Type="http://schemas.openxmlformats.org/officeDocument/2006/relationships/slide" Target="/ppt/slides/slide4.xml" Id="Rff84adbd0e144c40" /><Relationship Type="http://schemas.openxmlformats.org/officeDocument/2006/relationships/slide" Target="/ppt/slides/slide5.xml" Id="R535026b9405b4c38" /><Relationship Type="http://schemas.openxmlformats.org/officeDocument/2006/relationships/slide" Target="/ppt/slides/slide6.xml" Id="Rb5df7d8bdd1a4452" /><Relationship Type="http://schemas.openxmlformats.org/officeDocument/2006/relationships/slide" Target="/ppt/slides/slide7.xml" Id="R6e78e6ec851143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33b458037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33dfb5b2a4a4d" /><Relationship Type="http://schemas.openxmlformats.org/officeDocument/2006/relationships/notesMaster" Target="/ppt/notesMasters/notesMaster1.xml" Id="R0220a24716a346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04436ee5d4aae" /><Relationship Type="http://schemas.openxmlformats.org/officeDocument/2006/relationships/notesMaster" Target="/ppt/notesMasters/notesMaster1.xml" Id="R58786f03c2b9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c1497c9c9142cf" /><Relationship Type="http://schemas.openxmlformats.org/officeDocument/2006/relationships/notesMaster" Target="/ppt/notesMasters/notesMaster1.xml" Id="R3b83bba7740547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b7582b3eb64afd" /><Relationship Type="http://schemas.openxmlformats.org/officeDocument/2006/relationships/notesMaster" Target="/ppt/notesMasters/notesMaster1.xml" Id="R446a000c497c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79d374178c4c63" /><Relationship Type="http://schemas.openxmlformats.org/officeDocument/2006/relationships/notesMaster" Target="/ppt/notesMasters/notesMaster1.xml" Id="R6e30edc75291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f8d9cb83124d06" /><Relationship Type="http://schemas.openxmlformats.org/officeDocument/2006/relationships/notesMaster" Target="/ppt/notesMasters/notesMaster1.xml" Id="R6e1c11c37f4742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0712e4c444fad" /><Relationship Type="http://schemas.openxmlformats.org/officeDocument/2006/relationships/notesMaster" Target="/ppt/notesMasters/notesMaster1.xml" Id="Re8ae71c3d075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Project details are based on the GMA Store POS repository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offline model and feature scope come from README.md and docs/sale-sync-resilience.md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objectives describe what the team aims to achieve while developing the GMA Store POS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definitions are based on the contracts and authentication flows in packages/contracts and apps/web/components/auth-shell.tsx. Illustration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statements are grounded in the current web components, contracts, API services, and tests in the GMA Store POS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workflow diagram. The device-first sale and later synchronization flow are described in README.md and docs/sale-sync-resilience.md.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taken from package.json, apps/web/package.json, apps/api/package.json, docker-compose.yml,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612127b0e41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373d2cf2a4e1d" /><Relationship Type="http://schemas.openxmlformats.org/officeDocument/2006/relationships/slideLayout" Target="/ppt/slideLayouts/slideLayout1.xml" Id="R29aea921198b4d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aea921198b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f0c07fdbc48fe" /><Relationship Type="http://schemas.openxmlformats.org/officeDocument/2006/relationships/image" Target="/ppt/media/image.png" Id="R062328e5517040d5" /><Relationship Type="http://schemas.openxmlformats.org/officeDocument/2006/relationships/image" Target="/ppt/media/image2.png" Id="Rbcf468369af641fc" /><Relationship Type="http://schemas.openxmlformats.org/officeDocument/2006/relationships/notesSlide" Target="/ppt/notesSlides/notesSlide1.xml" Id="R16edae06c71a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c59bfddad48b3" /><Relationship Type="http://schemas.openxmlformats.org/officeDocument/2006/relationships/notesSlide" Target="/ppt/notesSlides/notesSlide2.xml" Id="R214433a8c6e948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129543d3748bf" /><Relationship Type="http://schemas.openxmlformats.org/officeDocument/2006/relationships/notesSlide" Target="/ppt/notesSlides/notesSlide3.xml" Id="R52aff61c6e194a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a298d8e3d426a" /><Relationship Type="http://schemas.openxmlformats.org/officeDocument/2006/relationships/image" Target="/ppt/media/image3.png" Id="R146dd1ea53b04f2d" /><Relationship Type="http://schemas.openxmlformats.org/officeDocument/2006/relationships/notesSlide" Target="/ppt/notesSlides/notesSlide4.xml" Id="R81cea4c4accc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68ad008648ba" /><Relationship Type="http://schemas.openxmlformats.org/officeDocument/2006/relationships/notesSlide" Target="/ppt/notesSlides/notesSlide5.xml" Id="R4d57a777f4f04b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38c5623e943f4" /><Relationship Type="http://schemas.openxmlformats.org/officeDocument/2006/relationships/notesSlide" Target="/ppt/notesSlides/notesSlide6.xml" Id="Ra329fb6b011a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f1887a2234c9d" /><Relationship Type="http://schemas.openxmlformats.org/officeDocument/2006/relationships/notesSlide" Target="/ppt/notesSlides/notesSlide7.xml" Id="Rb9bcc22cc30743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328e5517040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85B9D-21E2-4EEE-8E33-AF9D969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28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468369af641fc"/>
          <a:stretch xmlns:a="http://schemas.openxmlformats.org/drawingml/2006/main"/>
        </p:blipFill>
        <p:spPr>
          <a:xfrm xmlns:a="http://schemas.openxmlformats.org/drawingml/2006/main">
            <a:off x="723900" y="6096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3B721-3E10-4D08-B5F5-F50682B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CCE106L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D3F9D-B632-4B44-BCFA-3326AF97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GMA Store POS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4CCDF-40CD-4DE1-9203-EFCB9312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An Offline-First Point-of-Sale System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for Sari-Sari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4C0C8-02CB-417D-B0B4-23D8CA8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9D0D3-9FC7-4CD6-B9A6-F13ABDEF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Presenters: [Names]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Instructor: [Instructor Name]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Date: [Presentation Date]</a:t>
            </a:r>
          </a:p>
        </p:txBody>
      </p:sp>
    </p:spTree>
    <p:extLst>
      <p:ext uri="{BB962C8B-B14F-4D97-AF65-F5344CB8AC3E}">
        <p14:creationId xmlns:p14="http://schemas.microsoft.com/office/powerpoint/2010/main" val="1995377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68BE3E6-742B-4BBE-9BD1-A1AE822C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62E63EB-A32D-47BF-B2A3-47F2739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overview and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76A7A-8041-4A50-806C-8E7EA5A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F5861-F141-4C32-AF44-991939A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CURRENT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927C2-AE4E-4658-A044-57C51EA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Small stores often rely on handwritten records and memory during busy selling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49E5F-F746-4882-8725-739BADB2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629F3-BD84-42BF-ACDD-55E997ED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Manual sales and stock records take time and can contain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1CF7D-00EF-4188-BB00-6F61B43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A2C38-3F5D-4571-96B3-D404C75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Internet-dependent systems can stop the checkout process when the connection fails.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83F71-F6DB-4C62-BB27-63D6375B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686300" cy="41910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2E79-B56D-4199-8641-E3C70687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PROPOSED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2A280-E92F-4F00-A3C0-8C7D013E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A mobile-friendly POS that keeps the store operating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755D5-CF09-4938-920B-58C664F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Sales save on the device first. The system updates cloud data and backups when internet access returns.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37E0E-6260-4529-ABF9-78DBC2D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86F37-D040-413E-91CA-81563A4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6597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84FF9F9-EF96-4AEC-8B26-A0CFC1F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2FFD99A-89AA-43CB-B648-3D5E419E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1CE4B-2BA5-4E89-804F-2CA4673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E2B50-3903-48CE-9C14-A0547AE9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project focuses on four development 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DEC5C-40DB-4314-A356-A9CF1C0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79B86-11C8-4DFF-B341-03FEE80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Develop an accessible 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A97A-9020-4C1D-9C4F-9EA2B868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 a mobile-friendly system suited to the daily operations of sari-sari stores.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1CB65-4FBA-40A0-AFB4-D665CDD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6082A-715D-4B35-87A2-C28E91CC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2833C-3341-4B1E-9CC1-49D8AB9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Implement offline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5B9D-F767-46C3-9909-B8B9F64D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Allow staff to complete and save sales without a continuous internet connection.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FCBF0-118F-432D-92B4-06DB29E1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A619A-79F1-441C-96DA-91DBB93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6F56F-6434-4BA4-90D3-F27FBC3D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Integrate store management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A2129-5E52-4C48-AE3A-3878D42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Combine checkout, inventory, utang, expenses, and daily reporting in one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77E43-B732-442B-B9F0-E86B6945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716A7-F5E7-4D13-9385-4BB56DD0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966CE-73A0-4048-9F25-109670C0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Support secure and reliable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1CB13-7528-4646-BF62-5FB341AE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Implement role-based access, synchronization, and encrypted backups.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73A34-47C8-41BC-94D9-BF04D97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D1DCD-7994-4197-A820-946C11F6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BE298-3822-48C9-A36F-0DE4959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4323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dd1ea53b04f2d"/>
          <a:srcRect xmlns:a="http://schemas.openxmlformats.org/drawingml/2006/main" l="14815" t="0" r="148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0ECC-5577-48FB-8BF3-EC0C16A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786EA-3ADA-4F65-B9B8-2B1564C1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CFF73-19FF-4D1B-A9E0-A5FE456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Target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416F2-C563-42B9-A9AC-3700E6D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9794-4BA8-47B0-B291-D336541E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Owner or administrator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796E6-1B03-4DC5-95C1-276B2841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Manages products, stock, expenses, reports, staff access, and backups.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9FF1-7172-406C-A2F9-6655316A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9964E-F727-4718-A0A7-CBD16ED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Cashier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45770-0289-4204-8C02-3817047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Processes sales through a focused checkout view and records the payment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CCF7D-40DF-4270-A704-621457ED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CFA7A-F2AA-4F2D-B5A9-4A397A7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System superadministrator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F54E4-5AB4-490D-B55E-D648131B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Creates stores and manages owner or administrator access across deployments.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0680B-ABEF-4C40-A677-170A4900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1521461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5B45BE0A-2991-46F5-9F61-522F158A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3E5278B-59B0-46D6-A9D7-2AA162D6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Main proposed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29D5E-2E5E-4458-9C40-773E09CC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24F2E-2F54-4AE3-9A9D-1E22681A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proposal covers the store’s daily sales cycle and the records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B99CD-2E74-49A8-918F-E580CE46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98B34-609A-432C-8276-0322E30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Checkout and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FB9F0-C0A9-41C0-B5C0-0161D347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Barcode-assisted selling with cash, GCash, Maya, and utang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3A6C-C022-4D2B-8830-6F05E73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8E11D-72CA-44CF-8C0E-7E947208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E967-02DD-401E-8157-EFE747FD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Inventory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C601C-6E54-4B0E-A964-9663CE75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Product units, restocking, stock adjustments, and low-stock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7FC9F-4F17-4235-A334-0487499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13858-9CE8-4804-8E4D-11B285E6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9D1D-C8C5-405C-B2B4-892AE37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Customer utang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EF1D1-9F5A-4BED-B0F4-AAC3EE2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Customer balances, purchase entries, and payment recording.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E9C58-976B-4F62-91CF-10885DA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DED76-C924-4A21-9827-1EB5E4E8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6562F-8D17-4E64-BB5D-D0DA1B72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Reports and expenses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B08EC-8E15-405D-BED8-0A51786D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Daily sales summary, expenses, transactions, and top products.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AFA0F-3C7E-4070-80D5-3F8869D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0D887-1A79-4660-8C04-5B8A7A2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4FDEE-85C4-499A-97E8-92ACF21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Access and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EE79E-F3ED-4D83-8A08-8C589F5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Staff roles, offline synchronization, product images, and encrypted backups.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77A54-10B7-4889-ACFF-9AB2E12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00150"/>
            <a:ext cx="1028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1DFDB-E1E6-4AC7-B900-37F84D8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B8693-622B-42EB-9DC6-D07E64F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9270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DBC20818-A00E-4046-B5B7-2BBAAB0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03952AB-D0AC-4810-B009-9E4E2F4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Basic 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F794A-6A1A-40DB-AF9C-9DAD613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6247B-51B0-4FB1-BFE9-C306B807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Core selling steps remain available after the first online setup.</a:t>
            </a:r>
          </a:p>
        </p:txBody>
      </p:sp>
      <p:sp>
        <p:nvSpPr>
          <p:cNvPr id="5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33426B64-0AD3-4BBB-8C1B-E7305A2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89D7-704A-4EA8-84C2-C3C12230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EC75-952F-4248-916A-99B226C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Staff sign-in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5E446-B608-4DA2-8E90-B49FFAE9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Role and store access</a:t>
            </a:r>
          </a:p>
        </p:txBody>
      </p:sp>
      <p:sp>
        <p:nvSpPr>
          <p:cNvPr id="9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F19227D2-B6EA-4A2A-9B56-8A47A61C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C0BA6-EC88-49FD-8EB0-3CE92ADA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0459F-9A05-448A-A6F0-FC11E344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Find 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D1E5A-1514-4A02-861C-CBF06FD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Search or scan barcode</a:t>
            </a:r>
          </a:p>
        </p:txBody>
      </p:sp>
      <p:sp>
        <p:nvSpPr>
          <p:cNvPr id="13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40E21C5C-1292-444D-B06D-8504FFA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91E69-BEE7-49A7-80A4-D6703DC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DB7C9-F38E-4B8C-8DDC-3CDBE41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Build the cart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90822-A17A-4FEB-B71A-3E96CF0D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Set quantity or amount</a:t>
            </a:r>
          </a:p>
        </p:txBody>
      </p:sp>
      <p:sp>
        <p:nvSpPr>
          <p:cNvPr id="17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80174EAA-E746-4796-80B8-19902D51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9F493-B764-4A12-A9FF-F86E682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BE90E-9152-4C63-9B78-522A454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Select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403CA-6219-42CE-8686-42DF7EB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Cash, e-wallet, or utang</a:t>
            </a:r>
          </a:p>
        </p:txBody>
      </p:sp>
      <p:sp>
        <p:nvSpPr>
          <p:cNvPr id="21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8B16199B-820D-481E-B691-76130D4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9525">
            <a:solidFill>
              <a:srgbClr val="0B49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A26AF-DB24-4943-B5BF-E9E3114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69337-812A-4951-A2C4-2F21EC82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Save the sale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820F9-1180-40D7-B06A-C324829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Stored on the device first</a:t>
            </a:r>
          </a:p>
        </p:txBody>
      </p:sp>
      <p:sp>
        <p:nvSpPr>
          <p:cNvPr id="25" name="workflow-step-6">
            <a:extLst xmlns:a="http://schemas.openxmlformats.org/drawingml/2006/main">
              <a:ext uri="{FF2B5EF4-FFF2-40B4-BE49-F238E27FC236}">
                <a16:creationId xmlns:a16="http://schemas.microsoft.com/office/drawing/2014/main" id="{1E06DE53-F465-4864-83A2-E500964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233B6-AF8C-4E90-8687-42B8E98A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39A1F-53B1-4661-86B5-CEAA3E1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Update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FD0CE-638C-42DD-8560-1BED3009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Stock, ledger, and reports</a:t>
            </a:r>
          </a:p>
        </p:txBody>
      </p:sp>
      <p:sp>
        <p:nvSpPr>
          <p:cNvPr id="29" name="workflow-step-7">
            <a:extLst xmlns:a="http://schemas.openxmlformats.org/drawingml/2006/main">
              <a:ext uri="{FF2B5EF4-FFF2-40B4-BE49-F238E27FC236}">
                <a16:creationId xmlns:a16="http://schemas.microsoft.com/office/drawing/2014/main" id="{5B04A4D3-36A6-47B3-8B8C-35F20C0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6AF08-5936-4CF5-994D-FC75808F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844CF-5681-4002-B3D8-6EE0711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Sync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1E8F5-C798-4DB9-B4DB-4EBD97F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Back up when online</a:t>
            </a:r>
          </a:p>
        </p:txBody>
      </p:sp>
      <p:cxnSp>
        <p:nvCxnSpPr>
          <p:cNvPr id="7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769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629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925050" y="32194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836295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567690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25E966-E418-4D8F-963E-291AF72A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OFFLINE 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536EB4-A0E5-42BF-ACB5-B647CF94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30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592E2-FEFE-4EEE-B14C-4D510AB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ONLINE WHEN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A9511-961A-4A8A-B433-FDC5B207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732909-FBCD-4261-8EDB-EBDCFD0D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9814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051DC3A4-B2F3-4947-A8DC-4A2AB30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2B03446-F6BF-490F-BA96-08490CE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Technologies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1646A-9721-4616-9068-D9EBCC24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CE87A-5BB6-46EA-B348-49B99BAC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 web stack supports mobile use, offline operation, and centralized store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10553-E844-43E5-80E3-CE1165BB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77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5F4B0-78C1-4344-AB9D-1F1CBA9A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4E29C-7663-4F74-9622-62919B60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24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Next.js  ·  React  ·  TypeScript  ·  Progressive 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16881-0BF0-4179-A0ED-A141B5E6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97917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2E77-9DB5-43CC-B440-92FF0411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DEVICE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870C7-8DD2-4FA5-B7FF-8C3CBBC7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765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Dexie  ·  IndexedDB  ·  Offline command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934D2-9F80-4C73-B7C7-EFE02A2E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91059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BC4A9-2F30-41B2-A68F-99026849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APPLICATION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A96F2-48B1-4698-AE3D-5878165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290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NestJS  ·  Fastify  ·  Role-based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11738-ADC4-418B-9944-237C422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84201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B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4C861-EBB5-43B5-ADB1-86318538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DATA AND BACKUPS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667C4-FABC-448E-BB59-12D354F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815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PostgreSQL  ·  S3-compatible MinIO  ·  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E3B9E-07A5-4897-A7DE-E60C7C2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rPr>
              <a:t>Local-first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07018-5B75-4A1E-AFD8-519F64D1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150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browser handles daily work. The server supports shared access, synchronization, and recovery.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352FC-9D91-474B-8446-E20EC5A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53F20-D4BF-4975-B67E-6BF2A96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1508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2026-09-16T12:25:09.5510000Z</dcterms:created>
  <dcterms:modified xsi:type="dcterms:W3CDTF">2026-09-16T12:25:09.5510000Z</dcterms:modified>
</coreProperties>
</file>