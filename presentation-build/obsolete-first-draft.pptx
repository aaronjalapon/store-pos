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d2a4a6ce4c4e94" /><Relationship Type="http://schemas.openxmlformats.org/officeDocument/2006/relationships/extended-properties" Target="/docProps/app.xml" Id="Rb1b740e68b74462b" /><Relationship Type="http://schemas.openxmlformats.org/officeDocument/2006/relationships/officeDocument" Target="/ppt/presentation.xml" Id="R303e319aaef54f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0db733ebb4c8f"/>
  </p:sldMasterIdLst>
  <p:notesMasterIdLst>
    <p:notesMasterId xmlns:r="http://schemas.openxmlformats.org/officeDocument/2006/relationships" r:id="R838799d4b7ae49f1"/>
  </p:notesMasterIdLst>
  <p:sldIdLst>
    <p:sldId xmlns:r="http://schemas.openxmlformats.org/officeDocument/2006/relationships" id="256" r:id="R5110635a126b4efc"/>
    <p:sldId xmlns:r="http://schemas.openxmlformats.org/officeDocument/2006/relationships" id="257" r:id="R4278e05b89524f0b"/>
    <p:sldId xmlns:r="http://schemas.openxmlformats.org/officeDocument/2006/relationships" id="258" r:id="R43e59a9dd50c43d7"/>
    <p:sldId xmlns:r="http://schemas.openxmlformats.org/officeDocument/2006/relationships" id="259" r:id="R74a31ac72ae245d2"/>
    <p:sldId xmlns:r="http://schemas.openxmlformats.org/officeDocument/2006/relationships" id="260" r:id="R3bbfb51e09d84644"/>
    <p:sldId xmlns:r="http://schemas.openxmlformats.org/officeDocument/2006/relationships" id="261" r:id="R4187a7e0f036413d"/>
    <p:sldId xmlns:r="http://schemas.openxmlformats.org/officeDocument/2006/relationships" id="262" r:id="Rd5ad178ff2fa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c3b4af5904214" /><Relationship Type="http://schemas.openxmlformats.org/officeDocument/2006/relationships/slideMaster" Target="/ppt/slideMasters/slideMaster1.xml" Id="Rccc0db733ebb4c8f" /><Relationship Type="http://schemas.openxmlformats.org/officeDocument/2006/relationships/notesMaster" Target="/ppt/notesMasters/notesMaster1.xml" Id="R838799d4b7ae49f1" /><Relationship Type="http://schemas.openxmlformats.org/officeDocument/2006/relationships/presProps" Target="/ppt/presProps.xml" Id="Rd2493263b6c94a60" /><Relationship Type="http://schemas.openxmlformats.org/officeDocument/2006/relationships/tableStyles" Target="/ppt/tableStyles.xml" Id="R9c78b2a87d804733" /><Relationship Type="http://schemas.openxmlformats.org/officeDocument/2006/relationships/slide" Target="/ppt/slides/slide1.xml" Id="R5110635a126b4efc" /><Relationship Type="http://schemas.openxmlformats.org/officeDocument/2006/relationships/slide" Target="/ppt/slides/slide2.xml" Id="R4278e05b89524f0b" /><Relationship Type="http://schemas.openxmlformats.org/officeDocument/2006/relationships/slide" Target="/ppt/slides/slide3.xml" Id="R43e59a9dd50c43d7" /><Relationship Type="http://schemas.openxmlformats.org/officeDocument/2006/relationships/slide" Target="/ppt/slides/slide4.xml" Id="R74a31ac72ae245d2" /><Relationship Type="http://schemas.openxmlformats.org/officeDocument/2006/relationships/slide" Target="/ppt/slides/slide5.xml" Id="R3bbfb51e09d84644" /><Relationship Type="http://schemas.openxmlformats.org/officeDocument/2006/relationships/slide" Target="/ppt/slides/slide6.xml" Id="R4187a7e0f036413d" /><Relationship Type="http://schemas.openxmlformats.org/officeDocument/2006/relationships/slide" Target="/ppt/slides/slide7.xml" Id="Rd5ad178ff2fa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32bd4f2804d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5c2ced29c45cd" /><Relationship Type="http://schemas.openxmlformats.org/officeDocument/2006/relationships/notesMaster" Target="/ppt/notesMasters/notesMaster1.xml" Id="R3ce6a8243a0d42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3959273fa84fa2" /><Relationship Type="http://schemas.openxmlformats.org/officeDocument/2006/relationships/notesMaster" Target="/ppt/notesMasters/notesMaster1.xml" Id="Rc1968d8473d7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ce7a6cd974e3d" /><Relationship Type="http://schemas.openxmlformats.org/officeDocument/2006/relationships/notesMaster" Target="/ppt/notesMasters/notesMaster1.xml" Id="Reb911727292a45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47d7174b9b4a33" /><Relationship Type="http://schemas.openxmlformats.org/officeDocument/2006/relationships/notesMaster" Target="/ppt/notesMasters/notesMaster1.xml" Id="R68a9fca2d08d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d99b7fcee34044" /><Relationship Type="http://schemas.openxmlformats.org/officeDocument/2006/relationships/notesMaster" Target="/ppt/notesMasters/notesMaster1.xml" Id="R33a87312832e45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982c51ce534b5d" /><Relationship Type="http://schemas.openxmlformats.org/officeDocument/2006/relationships/notesMaster" Target="/ppt/notesMasters/notesMaster1.xml" Id="R401a4857b98f40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cc2c8dbbc4769" /><Relationship Type="http://schemas.openxmlformats.org/officeDocument/2006/relationships/notesMaster" Target="/ppt/notesMasters/notesMaster1.xml" Id="Rb786040347f5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Project details are based on the GMA Store POS repository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offline model and feature scope come from README.md and docs/sale-sync-resilience.md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implemented checkout, inventory, utang, reporting, synchronization, and backup capabilities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definitions are based on the contracts and authentication flows in packages/contracts and apps/web/components/auth-shell.tsx. Illustration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statements are grounded in the current web components, contracts, API services, and tests in the GMA Store POS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workflow diagram. The device-first sale and later synchronization flow are described in README.md and docs/sale-sync-resilience.md.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taken from package.json, apps/web/package.json, apps/api/package.json, docker-compose.yml,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513c8e73640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7c4acb22b54905" /><Relationship Type="http://schemas.openxmlformats.org/officeDocument/2006/relationships/slideLayout" Target="/ppt/slideLayouts/slideLayout1.xml" Id="Rae3ee22477fb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ee22477fb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92e0d2ac43e8" /><Relationship Type="http://schemas.openxmlformats.org/officeDocument/2006/relationships/image" Target="/ppt/media/image.png" Id="Rdc33bb8e33a14552" /><Relationship Type="http://schemas.openxmlformats.org/officeDocument/2006/relationships/image" Target="/ppt/media/image2.png" Id="Rc366c8174cb9491d" /><Relationship Type="http://schemas.openxmlformats.org/officeDocument/2006/relationships/notesSlide" Target="/ppt/notesSlides/notesSlide1.xml" Id="Re6ef3fed087646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38b2c1e074a93" /><Relationship Type="http://schemas.openxmlformats.org/officeDocument/2006/relationships/notesSlide" Target="/ppt/notesSlides/notesSlide2.xml" Id="Rcd9439870acf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2e7503914459" /><Relationship Type="http://schemas.openxmlformats.org/officeDocument/2006/relationships/notesSlide" Target="/ppt/notesSlides/notesSlide3.xml" Id="Rbac25a0c665840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b599508af49a9" /><Relationship Type="http://schemas.openxmlformats.org/officeDocument/2006/relationships/image" Target="/ppt/media/image3.png" Id="R4c998cfac24e4944" /><Relationship Type="http://schemas.openxmlformats.org/officeDocument/2006/relationships/notesSlide" Target="/ppt/notesSlides/notesSlide4.xml" Id="Red407c10137a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f9a75f6a4545" /><Relationship Type="http://schemas.openxmlformats.org/officeDocument/2006/relationships/notesSlide" Target="/ppt/notesSlides/notesSlide5.xml" Id="Rb409b6aa76a5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f61d153c14384" /><Relationship Type="http://schemas.openxmlformats.org/officeDocument/2006/relationships/notesSlide" Target="/ppt/notesSlides/notesSlide6.xml" Id="R7bacf3f265f94b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922de138544c7" /><Relationship Type="http://schemas.openxmlformats.org/officeDocument/2006/relationships/notesSlide" Target="/ppt/notesSlides/notesSlide7.xml" Id="Rd1c7a73ec69d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3bb8e33a145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2D6A-C294-4579-B379-26A5821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28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6c8174cb9491d"/>
          <a:stretch xmlns:a="http://schemas.openxmlformats.org/drawingml/2006/main"/>
        </p:blipFill>
        <p:spPr>
          <a:xfrm xmlns:a="http://schemas.openxmlformats.org/drawingml/2006/main">
            <a:off x="723900" y="6096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7C3EF-5F67-4239-B05A-1B5EAAEC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CCE106L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38414-ADC6-4436-885D-B90618F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GMA Store POS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C80C9-9211-44B0-BEEC-DD9181E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An Offline-First Point-of-Sale System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4937"/>
                </a:solidFill>
                <a:latin typeface="Avenir Next"/>
                <a:ea typeface="Avenir Next"/>
                <a:cs typeface="Avenir Next"/>
              </a:rPr>
              <a:t>for Sari-Sari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AC840-4544-476A-A21E-97EBD66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B7FB9-4395-45AE-90B3-490269B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Presenters: [Names]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Instructor: [Instructor Name]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Date: [Presentation Date]</a:t>
            </a:r>
          </a:p>
        </p:txBody>
      </p:sp>
    </p:spTree>
    <p:extLst>
      <p:ext uri="{BB962C8B-B14F-4D97-AF65-F5344CB8AC3E}">
        <p14:creationId xmlns:p14="http://schemas.microsoft.com/office/powerpoint/2010/main" val="2034345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A746768-4720-41CA-8315-0631D5E9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2913CF5-CDAD-4131-8BFF-F9A8099F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overview and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0EF2-51C0-4A2D-9F7C-BE9C1757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BDFEA-3374-490E-BCD4-DEE3419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CURRENT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C1DEA-1A43-4C4D-B693-F2FF0E6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Small stores often rely on handwritten records and memory during busy selling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9696-5216-4C86-8324-1FA38512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F346-A580-4B72-A64D-30B14A1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Manual sales and stock records take time and can contain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D6F82-99B1-4BA1-9D1C-BB92ACD1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9E1E8-FB34-4E59-8D9B-3E98FFCD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Internet-dependent systems can stop the checkout process when the connection fails.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73E1B-28D6-4840-A024-E42662FA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686300" cy="41910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11280-723C-4EE3-92FE-D5CBAF4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PROPOSED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DC6ED-767A-4B43-B2C9-F3056AC2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A mobile-friendly POS that keeps the store operating offline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3CB9C-8F0A-4C25-A8D0-C406286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Sales save on the device first. The system updates cloud data and backups when internet access returns.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D1391-C8B3-4A81-B20A-054B7CD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0ED29-6BEE-41D0-AFE8-F7C823E9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971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5425271-B592-49DA-A803-408EF951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DB4E4E2-6F70-4BE1-84DA-162863A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2D725-1327-45FC-A163-089A5A0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FD9F8-E146-4509-9C84-12D14EA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Four outcomes guide the proposed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4CFA2-8B0E-4AEE-8B90-95602F0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5924B-906C-4534-84FA-82FB8B4D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Faster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05E57-401F-43F6-830E-FC8BD14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Help staff search, scan, and complete sales with fewer manual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B290A-A565-453A-AEFC-CF59E5B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BCB64-D7FA-4BE5-9E0A-27068A8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B8F60-6FB3-4E3D-A65E-111E57B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Reliable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5024C-186C-477E-B428-F8B4CCB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Keep inventory and customer credit balances current after each transaction.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62097-1E8B-4794-A1F9-F4350A55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1E407-E5BE-446D-B397-6DB5397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C78B8-C23B-4BA2-AF1E-4318AFE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Clear daily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E12A1-C6BC-4550-B1CF-A6396325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Summarize sales, expenses, transactions, and best-selling products.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F7668-48D3-48A6-B99B-96D780F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826E-DA2B-4C36-804B-FA3AA16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26B57-1EB4-450F-84E9-488B7C3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Protected store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9539B-2341-47FE-8EFA-C5F5FD0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Synchronize durable local records and maintain encrypted server backups.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31E2B-65DB-43F6-8FB3-34F4AD75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17826-1B0C-4B6B-A3F8-1BF9E72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95DE2-26B4-4D44-BB65-DB79FAF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6819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98cfac24e4944"/>
          <a:srcRect xmlns:a="http://schemas.openxmlformats.org/drawingml/2006/main" l="14815" t="0" r="148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63A71-8FB0-4D02-AEBB-2F597A4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9B756-2A51-4407-96C5-82F1AD2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2C61D-8B88-414C-BC42-FC107FC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Target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67EDB-92C2-49AD-A140-104BE4A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FB098-B1EA-4355-AC78-29065DB2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Owner or administrator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C89D8-87FE-4A33-8031-C24D1C5E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Manages products, stock, expenses, reports, staff access, and backups.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9A557-69FB-4AD0-B3DB-29208B53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A994B-6281-41D8-A578-3D0ED45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Cashier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25459-CF76-4D94-9840-56F293A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Processes sales through a focused checkout view and records the payment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65C72-677F-44EA-A283-14000C3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9EF98-E91A-4AD3-9EE7-2C71847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System superadministrator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09614-590D-4845-BF3F-491B61A0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3600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Creates stores and manages owner or administrator access across deployments.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500E1-60B8-45FE-9221-60095C48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1073364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E1C15AD-FCC7-40BC-B945-9D7113D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3899A8D-463E-4565-910E-8CED754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Main proposed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B6CB-C855-48D8-9BD1-82D3A2E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E7B31-1E49-4448-BB1B-5AB2905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proposal covers the store’s daily sales cycle and the records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A0F97-25B6-4012-8848-5172F0A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D7833-16A0-48F0-9008-041963B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Checkout and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6FCD9-62F3-4E3A-AA35-CCA7E86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Barcode-assisted selling with cash, GCash, Maya, and utang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C9845-6E0F-443A-BC2D-CCBB520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C6B05-A969-4BA4-BDF4-097487C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9B7F4-37BA-4CAB-9CC3-987BF2F0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Inventory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F2591-A92A-466B-B0F3-AC2F3EA4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Product units, restocking, stock adjustments, and low-stock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BD8EF-3096-47CE-A24D-982984C6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B46B4-FF70-48CE-B950-C963C07A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6C45D-660D-4567-ABCB-10AAF7B5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Customer utang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B4B93-8B53-455F-AE9D-396ADA8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Customer balances, purchase entries, and payment recording.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D828D-4109-44D1-AFCC-3F8109A7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53D13-68F5-407A-A186-19C4F94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B2087-EB58-4109-A644-19D3C04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Reports and expenses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1E352-B0BD-4891-B402-C237C74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Daily sales summary, expenses, transactions, and top products.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B60FE-C8B1-4191-9512-4FFA4C5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92E0E-4619-44DB-805C-F9F640D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A4A3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89A07-5743-41DC-AC75-41A6324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Access and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3DE43-AFB3-4EE9-8073-3656834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Staff roles, offline synchronization, product images, and encrypted backups.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67C0B-BD77-4892-A2C9-5728221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00150"/>
            <a:ext cx="1028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619C3-7E1E-414F-82BA-932F10F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A8466-2B1A-4F71-8E2A-E5C2BA85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0187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1A57445-13B0-45B3-957A-63517145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612DB5E-A10B-490C-9D7B-906C0D0E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Basic 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1E939-FB5A-4D27-A785-C08C960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CB373-392A-47C2-9F71-69412B4B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Core selling steps remain available after the first online setup.</a:t>
            </a:r>
          </a:p>
        </p:txBody>
      </p:sp>
      <p:sp>
        <p:nvSpPr>
          <p:cNvPr id="5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0FAC7C69-9B4B-4780-8913-3F173EE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1E77F-CCD2-42B2-BC6E-7B54112C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3134F-9E23-4F74-B37A-D693ED6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Staff sign-in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DC859-EB3D-4921-8C6F-F1D312F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Role and store access</a:t>
            </a:r>
          </a:p>
        </p:txBody>
      </p:sp>
      <p:sp>
        <p:nvSpPr>
          <p:cNvPr id="9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FE2FFEDA-E64F-495F-9128-507B32C6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81345-75C9-4A02-AFA7-3D3EFA7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D0C1C-5D7B-47E1-900F-6716987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Find 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AC9E-6DD7-4704-AD5F-DD66968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Search or scan barcode</a:t>
            </a:r>
          </a:p>
        </p:txBody>
      </p:sp>
      <p:sp>
        <p:nvSpPr>
          <p:cNvPr id="13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01486815-F50A-4B5A-B168-BA284DA8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25FB3-D03C-4E9E-AD31-822460C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86F2E-80D1-498B-A617-1584C711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Build the cart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9D7E0-4783-445C-AFFF-BC4F15E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Set quantity or amount</a:t>
            </a:r>
          </a:p>
        </p:txBody>
      </p:sp>
      <p:sp>
        <p:nvSpPr>
          <p:cNvPr id="17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5AB7EC4A-3C39-4410-A05C-DBE5A2B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EDD14-B8F2-4F83-95B3-F9EC052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621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57A4D-52E3-4F34-AF0B-D5C21C9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Select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54012-961F-4D02-8EFA-7477A70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Cash, e-wallet, or utang</a:t>
            </a:r>
          </a:p>
        </p:txBody>
      </p:sp>
      <p:sp>
        <p:nvSpPr>
          <p:cNvPr id="21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90D91092-A171-40D6-A643-F9816D43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9525">
            <a:solidFill>
              <a:srgbClr val="0B49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F044A-255B-462B-A771-DFF017F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2C94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F2E4F-C8F4-4544-856C-CDBD76CF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Save the sale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17A82-9FC3-4703-899A-3E6560D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CEBE2"/>
                </a:solidFill>
                <a:latin typeface="Avenir Next"/>
                <a:ea typeface="Avenir Next"/>
                <a:cs typeface="Avenir Next"/>
              </a:rPr>
              <a:t>Stored on the device first</a:t>
            </a:r>
          </a:p>
        </p:txBody>
      </p:sp>
      <p:sp>
        <p:nvSpPr>
          <p:cNvPr id="25" name="workflow-step-6">
            <a:extLst xmlns:a="http://schemas.openxmlformats.org/drawingml/2006/main">
              <a:ext uri="{FF2B5EF4-FFF2-40B4-BE49-F238E27FC236}">
                <a16:creationId xmlns:a16="http://schemas.microsoft.com/office/drawing/2014/main" id="{93116DB8-640B-4870-9338-7AEB8AD8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DD8C7-3B97-474A-89C9-B55B8C8C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CFD02-069F-416B-93C3-924AE102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Update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40337-1FD7-4C74-9935-D348749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Stock, ledger, and reports</a:t>
            </a:r>
          </a:p>
        </p:txBody>
      </p:sp>
      <p:sp>
        <p:nvSpPr>
          <p:cNvPr id="29" name="workflow-step-7">
            <a:extLst xmlns:a="http://schemas.openxmlformats.org/drawingml/2006/main">
              <a:ext uri="{FF2B5EF4-FFF2-40B4-BE49-F238E27FC236}">
                <a16:creationId xmlns:a16="http://schemas.microsoft.com/office/drawing/2014/main" id="{F02B2BD5-594C-42B4-8C14-E53DE98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22479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E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D18E8-FC3D-4EA7-AE3B-A987B4A8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16149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B7488-5072-4A62-97F9-4FF4517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Sync and back 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C40EF-005B-420C-8BE6-5B53AAA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482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Runs when online</a:t>
            </a:r>
          </a:p>
        </p:txBody>
      </p:sp>
      <p:cxnSp>
        <p:nvCxnSpPr>
          <p:cNvPr id="7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769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6295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925050" y="32194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836295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5676900" y="5038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6149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5377FD-1D57-4038-8B45-F3D8DA4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OFFLINE 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0788F6-3397-40FB-9D73-2E79EA6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30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4BFA01-A6E2-4FCF-A1D2-C477379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ONLINE WHEN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4F0650-7DE3-4B59-9631-618CDF3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22083-A45A-42D6-9CE0-E9B63D2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2325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DA4DF12C-DEA5-4059-B7B6-42C4641C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E2CB81A-5B9E-46C3-A468-38B2CA2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B2A24"/>
                </a:solidFill>
                <a:latin typeface="Georgia"/>
                <a:ea typeface="Georgia"/>
                <a:cs typeface="Georgia"/>
              </a:rPr>
              <a:t>Technologies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7F6AA-6E76-4D21-9F11-D1EDF8FC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14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4BA10-20D2-4CCF-8E12-F4929665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A web stack supports mobile use, offline operation, and centralized store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7F2A-C7B7-42D4-A145-3F3D93A4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77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49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D27B1-9CFE-40B6-9D9B-D150C152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2C94C"/>
                </a:solidFill>
                <a:latin typeface="Avenir Next"/>
                <a:ea typeface="Avenir Next"/>
                <a:cs typeface="Avenir Next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942B3-D29B-460C-BA7D-109C061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24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Next.js  ·  React  ·  TypeScript  ·  Progressive 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002A1-B035-4AFB-8484-2D31DCF2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97917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B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0C5DC-ABFE-4340-A6BD-DDA6115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DEVICE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FF6EF-9696-4BB2-BBDE-3F73B5B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765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Dexie  ·  IndexedDB  ·  Offline command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5363C-4E3E-43C9-8429-FE49548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91059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FC96F-F07F-4E68-9222-B0C4F33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APPLICATION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05285-3C95-4538-85C9-69EE43E5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290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NestJS  ·  Fastify  ·  Role-based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E774B-76E5-443E-9D65-96089D4E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84201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B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76BAF-0B38-4DAC-A6D3-B2B47D43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DATA AND BACKUPS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3D75D-542E-43AD-B0C2-BBCDDB1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815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B2A24"/>
                </a:solidFill>
                <a:latin typeface="Avenir Next"/>
                <a:ea typeface="Avenir Next"/>
                <a:cs typeface="Avenir Next"/>
              </a:rPr>
              <a:t>PostgreSQL  ·  S3-compatible MinIO  ·  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1CC1C-C06C-433A-BAF9-A4EF1BC0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4937"/>
                </a:solidFill>
                <a:latin typeface="Georgia"/>
                <a:ea typeface="Georgia"/>
                <a:cs typeface="Georgia"/>
              </a:rPr>
              <a:t>Local-first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41CB1-EB11-418A-9812-DB8BE1B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150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The browser handles daily work. The server supports shared access, synchronization, and recovery.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40689-59C8-4B6F-A7C1-29BF05B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6736D"/>
                </a:solidFill>
                <a:latin typeface="Avenir Next"/>
                <a:ea typeface="Avenir Next"/>
                <a:cs typeface="Avenir Next"/>
              </a:rPr>
              <a:t>GMA STORE POS  ·  PROJECT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3A02C-1979-4BC4-AA0B-A63BE1F7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16149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842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2026-09-14T07:40:56.2690000Z</dcterms:created>
  <dcterms:modified xsi:type="dcterms:W3CDTF">2026-09-14T07:40:56.2700000Z</dcterms:modified>
</coreProperties>
</file>